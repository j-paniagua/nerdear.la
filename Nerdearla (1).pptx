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Lat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bold.fntdata"/><Relationship Id="rId61" Type="http://schemas.openxmlformats.org/officeDocument/2006/relationships/font" Target="fonts/Lato-regular.fntdata"/><Relationship Id="rId20" Type="http://schemas.openxmlformats.org/officeDocument/2006/relationships/slide" Target="slides/slide15.xml"/><Relationship Id="rId64" Type="http://schemas.openxmlformats.org/officeDocument/2006/relationships/font" Target="fonts/Lato-boldItalic.fntdata"/><Relationship Id="rId63" Type="http://schemas.openxmlformats.org/officeDocument/2006/relationships/font" Target="fonts/Lat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4143e757d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4143e757d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4143e757d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4143e757d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4c4dcce17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4c4dcce17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4143e757d3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4143e757d3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143e757d3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4143e757d3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6405c8e00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6405c8e00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4143e757d3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4143e757d3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4143e757d3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4143e757d3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4143e757d3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4143e757d3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4143e757d3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4143e757d3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4143e757d3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4143e757d3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4143e757d3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4143e757d3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4143e757d3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4143e757d3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63d1411d7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63d1411d7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63d1411d7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63d1411d7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41556bf54e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141556bf54e_5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63d1411d7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63d1411d7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41556bf54e_5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141556bf54e_5_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63d1411d7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63d1411d7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63d1411d7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63d1411d7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41556bf54e_5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141556bf54e_5_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41556bf54e_5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141556bf54e_5_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41556bf54e_5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141556bf54e_5_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63d1411d7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63d1411d7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63d1411d7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63d1411d7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41556bf54e_5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141556bf54e_5_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41556bf54e_5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141556bf54e_5_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41556bf54e_5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141556bf54e_5_10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41556bf54e_5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g141556bf54e_5_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41556bf54e_5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141556bf54e_5_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41556bf54e_5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141556bf54e_5_1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4c4dcce17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4c4dcce17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63d1411d79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63d1411d79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63d1411d79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63d1411d79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63d1411d79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63d1411d79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41556bf54e_5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141556bf54e_5_1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63d1411d79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63d1411d79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63d1411d79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63d1411d79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63d1411d79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63d1411d79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4c5665e9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4c5665e9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4c5665e980_9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4c5665e980_9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4c5665e980_9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4c5665e980_9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4c5665e980_9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14c5665e980_9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4c5665e980_9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4c5665e980_9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63d1411d79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163d1411d79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41556bf54e_5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g141556bf54e_5_1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41556bf54e_5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g141556bf54e_5_1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41556bf54e_5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g141556bf54e_5_1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163d1411d79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163d1411d79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41556bf54e_5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g141556bf54e_5_1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163d1411d79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163d1411d79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163d1411d79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163d1411d79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14c5665e980_9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14c5665e980_9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14c5665e980_9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14c5665e980_9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sz="11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sz="1100"/>
            </a:lvl1pPr>
            <a:lvl2pPr indent="-317500" lvl="1" marL="914400" algn="l">
              <a:lnSpc>
                <a:spcPct val="90000"/>
              </a:lnSpc>
              <a:spcBef>
                <a:spcPts val="1200"/>
              </a:spcBef>
              <a:spcAft>
                <a:spcPts val="0"/>
              </a:spcAft>
              <a:buClr>
                <a:schemeClr val="dk1"/>
              </a:buClr>
              <a:buSzPts val="1400"/>
              <a:buChar char="○"/>
              <a:defRPr sz="1100"/>
            </a:lvl2pPr>
            <a:lvl3pPr indent="-317500" lvl="2" marL="1371600" algn="l">
              <a:lnSpc>
                <a:spcPct val="90000"/>
              </a:lnSpc>
              <a:spcBef>
                <a:spcPts val="1200"/>
              </a:spcBef>
              <a:spcAft>
                <a:spcPts val="0"/>
              </a:spcAft>
              <a:buClr>
                <a:schemeClr val="dk1"/>
              </a:buClr>
              <a:buSzPts val="1400"/>
              <a:buChar char="■"/>
              <a:defRPr sz="1100"/>
            </a:lvl3pPr>
            <a:lvl4pPr indent="-317500" lvl="3" marL="1828800" algn="l">
              <a:lnSpc>
                <a:spcPct val="90000"/>
              </a:lnSpc>
              <a:spcBef>
                <a:spcPts val="1200"/>
              </a:spcBef>
              <a:spcAft>
                <a:spcPts val="0"/>
              </a:spcAft>
              <a:buClr>
                <a:schemeClr val="dk1"/>
              </a:buClr>
              <a:buSzPts val="1400"/>
              <a:buChar char="●"/>
              <a:defRPr sz="1100"/>
            </a:lvl4pPr>
            <a:lvl5pPr indent="-317500" lvl="4" marL="2286000" algn="l">
              <a:lnSpc>
                <a:spcPct val="90000"/>
              </a:lnSpc>
              <a:spcBef>
                <a:spcPts val="1200"/>
              </a:spcBef>
              <a:spcAft>
                <a:spcPts val="0"/>
              </a:spcAft>
              <a:buClr>
                <a:schemeClr val="dk1"/>
              </a:buClr>
              <a:buSzPts val="1400"/>
              <a:buChar char="○"/>
              <a:defRPr sz="1100"/>
            </a:lvl5pPr>
            <a:lvl6pPr indent="-317500" lvl="5" marL="2743200" algn="l">
              <a:lnSpc>
                <a:spcPct val="90000"/>
              </a:lnSpc>
              <a:spcBef>
                <a:spcPts val="1200"/>
              </a:spcBef>
              <a:spcAft>
                <a:spcPts val="0"/>
              </a:spcAft>
              <a:buClr>
                <a:schemeClr val="dk1"/>
              </a:buClr>
              <a:buSzPts val="1400"/>
              <a:buChar char="■"/>
              <a:defRPr sz="1100"/>
            </a:lvl6pPr>
            <a:lvl7pPr indent="-317500" lvl="6" marL="3200400" algn="l">
              <a:lnSpc>
                <a:spcPct val="90000"/>
              </a:lnSpc>
              <a:spcBef>
                <a:spcPts val="1200"/>
              </a:spcBef>
              <a:spcAft>
                <a:spcPts val="0"/>
              </a:spcAft>
              <a:buClr>
                <a:schemeClr val="dk1"/>
              </a:buClr>
              <a:buSzPts val="1400"/>
              <a:buChar char="●"/>
              <a:defRPr sz="1100"/>
            </a:lvl7pPr>
            <a:lvl8pPr indent="-317500" lvl="7" marL="3657600" algn="l">
              <a:lnSpc>
                <a:spcPct val="90000"/>
              </a:lnSpc>
              <a:spcBef>
                <a:spcPts val="1200"/>
              </a:spcBef>
              <a:spcAft>
                <a:spcPts val="0"/>
              </a:spcAft>
              <a:buClr>
                <a:schemeClr val="dk1"/>
              </a:buClr>
              <a:buSzPts val="1400"/>
              <a:buChar char="○"/>
              <a:defRPr sz="1100"/>
            </a:lvl8pPr>
            <a:lvl9pPr indent="-317500" lvl="8" marL="4114800" algn="l">
              <a:lnSpc>
                <a:spcPct val="90000"/>
              </a:lnSpc>
              <a:spcBef>
                <a:spcPts val="1200"/>
              </a:spcBef>
              <a:spcAft>
                <a:spcPts val="1200"/>
              </a:spcAft>
              <a:buClr>
                <a:schemeClr val="dk1"/>
              </a:buClr>
              <a:buSzPts val="1400"/>
              <a:buChar char="■"/>
              <a:defRPr sz="1100"/>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12.png"/><Relationship Id="rId12" Type="http://schemas.openxmlformats.org/officeDocument/2006/relationships/image" Target="../media/image1.png"/><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9"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0.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2.png"/><Relationship Id="rId4" Type="http://schemas.openxmlformats.org/officeDocument/2006/relationships/image" Target="../media/image11.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11.png"/><Relationship Id="rId8"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0.png"/><Relationship Id="rId4" Type="http://schemas.openxmlformats.org/officeDocument/2006/relationships/image" Target="../media/image11.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39.png"/><Relationship Id="rId4" Type="http://schemas.openxmlformats.org/officeDocument/2006/relationships/image" Target="../media/image25.png"/><Relationship Id="rId5" Type="http://schemas.openxmlformats.org/officeDocument/2006/relationships/image" Target="../media/image11.png"/><Relationship Id="rId6"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52.png"/><Relationship Id="rId4" Type="http://schemas.openxmlformats.org/officeDocument/2006/relationships/image" Target="../media/image11.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11.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11.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11.png"/><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11.png"/><Relationship Id="rId6"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5.png"/><Relationship Id="rId4" Type="http://schemas.openxmlformats.org/officeDocument/2006/relationships/image" Target="../media/image11.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11.png"/><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48.png"/><Relationship Id="rId6" Type="http://schemas.openxmlformats.org/officeDocument/2006/relationships/image" Target="../media/image31.png"/><Relationship Id="rId7"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9.png"/><Relationship Id="rId4" Type="http://schemas.openxmlformats.org/officeDocument/2006/relationships/image" Target="../media/image11.png"/><Relationship Id="rId5" Type="http://schemas.openxmlformats.org/officeDocument/2006/relationships/image" Target="../media/image45.png"/><Relationship Id="rId6" Type="http://schemas.openxmlformats.org/officeDocument/2006/relationships/image" Target="../media/image34.png"/><Relationship Id="rId7"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image" Target="../media/image38.png"/><Relationship Id="rId5" Type="http://schemas.openxmlformats.org/officeDocument/2006/relationships/image" Target="../media/image11.png"/><Relationship Id="rId6"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11.png"/><Relationship Id="rId5"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2.png"/><Relationship Id="rId4" Type="http://schemas.openxmlformats.org/officeDocument/2006/relationships/image" Target="../media/image41.png"/><Relationship Id="rId5" Type="http://schemas.openxmlformats.org/officeDocument/2006/relationships/image" Target="../media/image11.png"/><Relationship Id="rId6"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53.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5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7.png"/><Relationship Id="rId4" Type="http://schemas.openxmlformats.org/officeDocument/2006/relationships/image" Target="../media/image46.png"/><Relationship Id="rId5" Type="http://schemas.openxmlformats.org/officeDocument/2006/relationships/image" Target="../media/image11.png"/><Relationship Id="rId6"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51.png"/><Relationship Id="rId4" Type="http://schemas.openxmlformats.org/officeDocument/2006/relationships/image" Target="../media/image11.png"/><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64.png"/><Relationship Id="rId4" Type="http://schemas.openxmlformats.org/officeDocument/2006/relationships/image" Target="../media/image11.png"/><Relationship Id="rId5"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85.png"/><Relationship Id="rId4" Type="http://schemas.openxmlformats.org/officeDocument/2006/relationships/image" Target="../media/image55.png"/><Relationship Id="rId5" Type="http://schemas.openxmlformats.org/officeDocument/2006/relationships/image" Target="../media/image11.png"/><Relationship Id="rId6"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57.png"/><Relationship Id="rId4" Type="http://schemas.openxmlformats.org/officeDocument/2006/relationships/image" Target="../media/image61.png"/><Relationship Id="rId9" Type="http://schemas.openxmlformats.org/officeDocument/2006/relationships/image" Target="../media/image11.png"/><Relationship Id="rId5" Type="http://schemas.openxmlformats.org/officeDocument/2006/relationships/image" Target="../media/image70.png"/><Relationship Id="rId6" Type="http://schemas.openxmlformats.org/officeDocument/2006/relationships/image" Target="../media/image54.png"/><Relationship Id="rId7" Type="http://schemas.openxmlformats.org/officeDocument/2006/relationships/image" Target="../media/image82.png"/><Relationship Id="rId8"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59.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75.png"/><Relationship Id="rId4" Type="http://schemas.openxmlformats.org/officeDocument/2006/relationships/image" Target="../media/image60.png"/><Relationship Id="rId5" Type="http://schemas.openxmlformats.org/officeDocument/2006/relationships/image" Target="../media/image11.png"/><Relationship Id="rId6"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76.png"/><Relationship Id="rId4" Type="http://schemas.openxmlformats.org/officeDocument/2006/relationships/image" Target="../media/image11.png"/><Relationship Id="rId5"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74.png"/><Relationship Id="rId4" Type="http://schemas.openxmlformats.org/officeDocument/2006/relationships/image" Target="../media/image11.png"/><Relationship Id="rId5"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32.png"/><Relationship Id="rId4" Type="http://schemas.openxmlformats.org/officeDocument/2006/relationships/image" Target="../media/image11.png"/><Relationship Id="rId5"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32.png"/><Relationship Id="rId4" Type="http://schemas.openxmlformats.org/officeDocument/2006/relationships/image" Target="../media/image11.png"/><Relationship Id="rId5"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58.png"/><Relationship Id="rId4" Type="http://schemas.openxmlformats.org/officeDocument/2006/relationships/image" Target="../media/image11.png"/><Relationship Id="rId5"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65.png"/><Relationship Id="rId4" Type="http://schemas.openxmlformats.org/officeDocument/2006/relationships/image" Target="../media/image11.png"/><Relationship Id="rId5"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72.png"/><Relationship Id="rId4" Type="http://schemas.openxmlformats.org/officeDocument/2006/relationships/image" Target="../media/image77.png"/><Relationship Id="rId5" Type="http://schemas.openxmlformats.org/officeDocument/2006/relationships/image" Target="../media/image11.png"/><Relationship Id="rId6"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63.png"/><Relationship Id="rId4" Type="http://schemas.openxmlformats.org/officeDocument/2006/relationships/image" Target="../media/image11.png"/><Relationship Id="rId5"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62.png"/><Relationship Id="rId4" Type="http://schemas.openxmlformats.org/officeDocument/2006/relationships/hyperlink" Target="https://slsa.dev/" TargetMode="External"/><Relationship Id="rId5" Type="http://schemas.openxmlformats.org/officeDocument/2006/relationships/hyperlink" Target="https://slsa.dev/" TargetMode="External"/><Relationship Id="rId6" Type="http://schemas.openxmlformats.org/officeDocument/2006/relationships/image" Target="../media/image21.png"/><Relationship Id="rId7" Type="http://schemas.openxmlformats.org/officeDocument/2006/relationships/image" Target="../media/image11.png"/><Relationship Id="rId8"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67.png"/><Relationship Id="rId4" Type="http://schemas.openxmlformats.org/officeDocument/2006/relationships/image" Target="../media/image11.png"/><Relationship Id="rId5"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66.png"/><Relationship Id="rId4" Type="http://schemas.openxmlformats.org/officeDocument/2006/relationships/image" Target="../media/image71.png"/><Relationship Id="rId5" Type="http://schemas.openxmlformats.org/officeDocument/2006/relationships/image" Target="../media/image11.png"/><Relationship Id="rId6"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68.png"/><Relationship Id="rId4" Type="http://schemas.openxmlformats.org/officeDocument/2006/relationships/image" Target="../media/image11.png"/><Relationship Id="rId5"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86.png"/><Relationship Id="rId4" Type="http://schemas.openxmlformats.org/officeDocument/2006/relationships/image" Target="../media/image81.png"/><Relationship Id="rId5" Type="http://schemas.openxmlformats.org/officeDocument/2006/relationships/image" Target="../media/image89.png"/><Relationship Id="rId6" Type="http://schemas.openxmlformats.org/officeDocument/2006/relationships/image" Target="../media/image11.png"/><Relationship Id="rId7"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87.png"/><Relationship Id="rId4" Type="http://schemas.openxmlformats.org/officeDocument/2006/relationships/image" Target="../media/image80.png"/><Relationship Id="rId5" Type="http://schemas.openxmlformats.org/officeDocument/2006/relationships/image" Target="../media/image11.png"/><Relationship Id="rId6"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32.png"/><Relationship Id="rId4" Type="http://schemas.openxmlformats.org/officeDocument/2006/relationships/image" Target="../media/image11.png"/><Relationship Id="rId5"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73.png"/><Relationship Id="rId4" Type="http://schemas.openxmlformats.org/officeDocument/2006/relationships/image" Target="../media/image11.png"/><Relationship Id="rId5"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78.png"/><Relationship Id="rId4" Type="http://schemas.openxmlformats.org/officeDocument/2006/relationships/image" Target="../media/image88.png"/><Relationship Id="rId5" Type="http://schemas.openxmlformats.org/officeDocument/2006/relationships/image" Target="../media/image11.png"/><Relationship Id="rId6" Type="http://schemas.openxmlformats.org/officeDocument/2006/relationships/image" Target="../media/image1.png"/><Relationship Id="rId7" Type="http://schemas.openxmlformats.org/officeDocument/2006/relationships/image" Target="../media/image6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84.png"/></Relationships>
</file>

<file path=ppt/slides/_rels/slide54.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11.png"/><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hyperlink" Target="https://docs.anchore.com/current/" TargetMode="External"/><Relationship Id="rId4" Type="http://schemas.openxmlformats.org/officeDocument/2006/relationships/hyperlink" Target="https://docs.paloaltonetworks.com/prisma/prisma-cloud/prisma-cloud-admin-compute/tools/twistcli_scan_images" TargetMode="External"/><Relationship Id="rId9" Type="http://schemas.openxmlformats.org/officeDocument/2006/relationships/image" Target="../media/image83.png"/><Relationship Id="rId5" Type="http://schemas.openxmlformats.org/officeDocument/2006/relationships/hyperlink" Target="https://www.aquasec.com/" TargetMode="External"/><Relationship Id="rId6" Type="http://schemas.openxmlformats.org/officeDocument/2006/relationships/hyperlink" Target="https://github.com/Portshift/kubei" TargetMode="External"/><Relationship Id="rId7" Type="http://schemas.openxmlformats.org/officeDocument/2006/relationships/hyperlink" Target="https://github.com/aquasecurity/trivy" TargetMode="External"/><Relationship Id="rId8" Type="http://schemas.openxmlformats.org/officeDocument/2006/relationships/hyperlink" Target="https://support.snyk.io/hc/en-us/articles/360003946917-Test-images-with-the-Snyk-Container-CLI"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8" y="70325"/>
            <a:ext cx="9143984" cy="5143500"/>
          </a:xfrm>
          <a:prstGeom prst="rect">
            <a:avLst/>
          </a:prstGeom>
          <a:noFill/>
          <a:ln>
            <a:noFill/>
          </a:ln>
        </p:spPr>
      </p:pic>
      <p:pic>
        <p:nvPicPr>
          <p:cNvPr id="61" name="Google Shape;61;p14"/>
          <p:cNvPicPr preferRelativeResize="0"/>
          <p:nvPr/>
        </p:nvPicPr>
        <p:blipFill>
          <a:blip r:embed="rId4">
            <a:alphaModFix/>
          </a:blip>
          <a:stretch>
            <a:fillRect/>
          </a:stretch>
        </p:blipFill>
        <p:spPr>
          <a:xfrm>
            <a:off x="661925" y="4272400"/>
            <a:ext cx="3829700" cy="941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5884350" y="1373050"/>
            <a:ext cx="3432799" cy="3432799"/>
          </a:xfrm>
          <a:prstGeom prst="rect">
            <a:avLst/>
          </a:prstGeom>
          <a:noFill/>
          <a:ln>
            <a:noFill/>
          </a:ln>
        </p:spPr>
      </p:pic>
      <p:pic>
        <p:nvPicPr>
          <p:cNvPr id="67" name="Google Shape;67;p15"/>
          <p:cNvPicPr preferRelativeResize="0"/>
          <p:nvPr/>
        </p:nvPicPr>
        <p:blipFill>
          <a:blip r:embed="rId3">
            <a:alphaModFix/>
          </a:blip>
          <a:stretch>
            <a:fillRect/>
          </a:stretch>
        </p:blipFill>
        <p:spPr>
          <a:xfrm>
            <a:off x="3911700" y="1373050"/>
            <a:ext cx="3432799" cy="3432799"/>
          </a:xfrm>
          <a:prstGeom prst="rect">
            <a:avLst/>
          </a:prstGeom>
          <a:noFill/>
          <a:ln>
            <a:noFill/>
          </a:ln>
        </p:spPr>
      </p:pic>
      <p:pic>
        <p:nvPicPr>
          <p:cNvPr id="68" name="Google Shape;68;p15"/>
          <p:cNvPicPr preferRelativeResize="0"/>
          <p:nvPr/>
        </p:nvPicPr>
        <p:blipFill>
          <a:blip r:embed="rId3">
            <a:alphaModFix/>
          </a:blip>
          <a:stretch>
            <a:fillRect/>
          </a:stretch>
        </p:blipFill>
        <p:spPr>
          <a:xfrm>
            <a:off x="1917925" y="1405750"/>
            <a:ext cx="3432799" cy="3432799"/>
          </a:xfrm>
          <a:prstGeom prst="rect">
            <a:avLst/>
          </a:prstGeom>
          <a:noFill/>
          <a:ln>
            <a:noFill/>
          </a:ln>
        </p:spPr>
      </p:pic>
      <p:pic>
        <p:nvPicPr>
          <p:cNvPr id="69" name="Google Shape;69;p15"/>
          <p:cNvPicPr preferRelativeResize="0"/>
          <p:nvPr/>
        </p:nvPicPr>
        <p:blipFill>
          <a:blip r:embed="rId3">
            <a:alphaModFix/>
          </a:blip>
          <a:stretch>
            <a:fillRect/>
          </a:stretch>
        </p:blipFill>
        <p:spPr>
          <a:xfrm>
            <a:off x="-54725" y="1405750"/>
            <a:ext cx="3432799" cy="3432799"/>
          </a:xfrm>
          <a:prstGeom prst="rect">
            <a:avLst/>
          </a:prstGeom>
          <a:noFill/>
          <a:ln>
            <a:noFill/>
          </a:ln>
        </p:spPr>
      </p:pic>
      <p:sp>
        <p:nvSpPr>
          <p:cNvPr id="70" name="Google Shape;70;p15"/>
          <p:cNvSpPr txBox="1"/>
          <p:nvPr/>
        </p:nvSpPr>
        <p:spPr>
          <a:xfrm>
            <a:off x="3115350" y="305125"/>
            <a:ext cx="291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Granja de servidores</a:t>
            </a:r>
            <a:endParaRPr sz="2400">
              <a:solidFill>
                <a:schemeClr val="dk1"/>
              </a:solidFill>
              <a:latin typeface="Calibri"/>
              <a:ea typeface="Calibri"/>
              <a:cs typeface="Calibri"/>
              <a:sym typeface="Calibri"/>
            </a:endParaRPr>
          </a:p>
        </p:txBody>
      </p:sp>
      <p:pic>
        <p:nvPicPr>
          <p:cNvPr id="71" name="Google Shape;71;p15"/>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72" name="Google Shape;72;p15"/>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p:cNvPicPr preferRelativeResize="0"/>
          <p:nvPr/>
        </p:nvPicPr>
        <p:blipFill>
          <a:blip r:embed="rId3">
            <a:alphaModFix/>
          </a:blip>
          <a:stretch>
            <a:fillRect/>
          </a:stretch>
        </p:blipFill>
        <p:spPr>
          <a:xfrm>
            <a:off x="4222925" y="833082"/>
            <a:ext cx="3130711" cy="1690701"/>
          </a:xfrm>
          <a:prstGeom prst="rect">
            <a:avLst/>
          </a:prstGeom>
          <a:noFill/>
          <a:ln>
            <a:noFill/>
          </a:ln>
        </p:spPr>
      </p:pic>
      <p:pic>
        <p:nvPicPr>
          <p:cNvPr id="78" name="Google Shape;78;p16"/>
          <p:cNvPicPr preferRelativeResize="0"/>
          <p:nvPr/>
        </p:nvPicPr>
        <p:blipFill>
          <a:blip r:embed="rId4">
            <a:alphaModFix/>
          </a:blip>
          <a:stretch>
            <a:fillRect/>
          </a:stretch>
        </p:blipFill>
        <p:spPr>
          <a:xfrm>
            <a:off x="5023828" y="1832050"/>
            <a:ext cx="2901873" cy="1934109"/>
          </a:xfrm>
          <a:prstGeom prst="rect">
            <a:avLst/>
          </a:prstGeom>
          <a:noFill/>
          <a:ln>
            <a:noFill/>
          </a:ln>
        </p:spPr>
      </p:pic>
      <p:pic>
        <p:nvPicPr>
          <p:cNvPr id="79" name="Google Shape;79;p16"/>
          <p:cNvPicPr preferRelativeResize="0"/>
          <p:nvPr/>
        </p:nvPicPr>
        <p:blipFill rotWithShape="1">
          <a:blip r:embed="rId5">
            <a:alphaModFix/>
          </a:blip>
          <a:srcRect b="0" l="0" r="0" t="23925"/>
          <a:stretch/>
        </p:blipFill>
        <p:spPr>
          <a:xfrm>
            <a:off x="5501350" y="3058147"/>
            <a:ext cx="3022725" cy="2299475"/>
          </a:xfrm>
          <a:prstGeom prst="rect">
            <a:avLst/>
          </a:prstGeom>
          <a:noFill/>
          <a:ln>
            <a:noFill/>
          </a:ln>
        </p:spPr>
      </p:pic>
      <p:pic>
        <p:nvPicPr>
          <p:cNvPr id="80" name="Google Shape;80;p16"/>
          <p:cNvPicPr preferRelativeResize="0"/>
          <p:nvPr/>
        </p:nvPicPr>
        <p:blipFill rotWithShape="1">
          <a:blip r:embed="rId6">
            <a:alphaModFix/>
          </a:blip>
          <a:srcRect b="0" l="0" r="0" t="10209"/>
          <a:stretch/>
        </p:blipFill>
        <p:spPr>
          <a:xfrm>
            <a:off x="2429925" y="1"/>
            <a:ext cx="1818325" cy="2299475"/>
          </a:xfrm>
          <a:prstGeom prst="rect">
            <a:avLst/>
          </a:prstGeom>
          <a:noFill/>
          <a:ln>
            <a:noFill/>
          </a:ln>
        </p:spPr>
      </p:pic>
      <p:pic>
        <p:nvPicPr>
          <p:cNvPr id="81" name="Google Shape;81;p16"/>
          <p:cNvPicPr preferRelativeResize="0"/>
          <p:nvPr/>
        </p:nvPicPr>
        <p:blipFill>
          <a:blip r:embed="rId7">
            <a:alphaModFix/>
          </a:blip>
          <a:stretch>
            <a:fillRect/>
          </a:stretch>
        </p:blipFill>
        <p:spPr>
          <a:xfrm>
            <a:off x="501025" y="2571750"/>
            <a:ext cx="4189917" cy="883800"/>
          </a:xfrm>
          <a:prstGeom prst="rect">
            <a:avLst/>
          </a:prstGeom>
          <a:noFill/>
          <a:ln>
            <a:noFill/>
          </a:ln>
        </p:spPr>
      </p:pic>
      <p:pic>
        <p:nvPicPr>
          <p:cNvPr id="82" name="Google Shape;82;p16"/>
          <p:cNvPicPr preferRelativeResize="0"/>
          <p:nvPr/>
        </p:nvPicPr>
        <p:blipFill>
          <a:blip r:embed="rId8">
            <a:alphaModFix/>
          </a:blip>
          <a:stretch>
            <a:fillRect/>
          </a:stretch>
        </p:blipFill>
        <p:spPr>
          <a:xfrm>
            <a:off x="217775" y="3408000"/>
            <a:ext cx="4915466" cy="1874502"/>
          </a:xfrm>
          <a:prstGeom prst="rect">
            <a:avLst/>
          </a:prstGeom>
          <a:noFill/>
          <a:ln>
            <a:noFill/>
          </a:ln>
        </p:spPr>
      </p:pic>
      <p:pic>
        <p:nvPicPr>
          <p:cNvPr id="83" name="Google Shape;83;p16"/>
          <p:cNvPicPr preferRelativeResize="0"/>
          <p:nvPr/>
        </p:nvPicPr>
        <p:blipFill>
          <a:blip r:embed="rId9">
            <a:alphaModFix/>
          </a:blip>
          <a:stretch>
            <a:fillRect/>
          </a:stretch>
        </p:blipFill>
        <p:spPr>
          <a:xfrm>
            <a:off x="8420975" y="0"/>
            <a:ext cx="723026" cy="723026"/>
          </a:xfrm>
          <a:prstGeom prst="rect">
            <a:avLst/>
          </a:prstGeom>
          <a:noFill/>
          <a:ln>
            <a:noFill/>
          </a:ln>
        </p:spPr>
      </p:pic>
      <p:pic>
        <p:nvPicPr>
          <p:cNvPr id="84" name="Google Shape;84;p16"/>
          <p:cNvPicPr preferRelativeResize="0"/>
          <p:nvPr/>
        </p:nvPicPr>
        <p:blipFill>
          <a:blip r:embed="rId10">
            <a:alphaModFix/>
          </a:blip>
          <a:stretch>
            <a:fillRect/>
          </a:stretch>
        </p:blipFill>
        <p:spPr>
          <a:xfrm>
            <a:off x="152400" y="152400"/>
            <a:ext cx="2901875" cy="2465151"/>
          </a:xfrm>
          <a:prstGeom prst="rect">
            <a:avLst/>
          </a:prstGeom>
          <a:noFill/>
          <a:ln>
            <a:noFill/>
          </a:ln>
        </p:spPr>
      </p:pic>
      <p:pic>
        <p:nvPicPr>
          <p:cNvPr id="85" name="Google Shape;85;p16"/>
          <p:cNvPicPr preferRelativeResize="0"/>
          <p:nvPr/>
        </p:nvPicPr>
        <p:blipFill>
          <a:blip r:embed="rId11">
            <a:alphaModFix/>
          </a:blip>
          <a:stretch>
            <a:fillRect/>
          </a:stretch>
        </p:blipFill>
        <p:spPr>
          <a:xfrm>
            <a:off x="7018100" y="491650"/>
            <a:ext cx="2125900" cy="2125900"/>
          </a:xfrm>
          <a:prstGeom prst="rect">
            <a:avLst/>
          </a:prstGeom>
          <a:noFill/>
          <a:ln>
            <a:noFill/>
          </a:ln>
        </p:spPr>
      </p:pic>
      <p:pic>
        <p:nvPicPr>
          <p:cNvPr id="86" name="Google Shape;86;p16"/>
          <p:cNvPicPr preferRelativeResize="0"/>
          <p:nvPr/>
        </p:nvPicPr>
        <p:blipFill>
          <a:blip r:embed="rId12">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b="22066" l="0" r="0" t="3612"/>
          <a:stretch/>
        </p:blipFill>
        <p:spPr>
          <a:xfrm>
            <a:off x="87590" y="773700"/>
            <a:ext cx="8914461" cy="4369800"/>
          </a:xfrm>
          <a:prstGeom prst="rect">
            <a:avLst/>
          </a:prstGeom>
          <a:noFill/>
          <a:ln>
            <a:noFill/>
          </a:ln>
        </p:spPr>
      </p:pic>
      <p:sp>
        <p:nvSpPr>
          <p:cNvPr id="92" name="Google Shape;92;p17"/>
          <p:cNvSpPr txBox="1"/>
          <p:nvPr/>
        </p:nvSpPr>
        <p:spPr>
          <a:xfrm>
            <a:off x="1417100" y="117400"/>
            <a:ext cx="50238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2400">
                <a:solidFill>
                  <a:schemeClr val="dk1"/>
                </a:solidFill>
                <a:latin typeface="Calibri"/>
                <a:ea typeface="Calibri"/>
                <a:cs typeface="Calibri"/>
                <a:sym typeface="Calibri"/>
              </a:rPr>
              <a:t>Solorigate supply chain attack diagram</a:t>
            </a:r>
            <a:endParaRPr sz="2400">
              <a:solidFill>
                <a:schemeClr val="dk1"/>
              </a:solidFill>
              <a:latin typeface="Calibri"/>
              <a:ea typeface="Calibri"/>
              <a:cs typeface="Calibri"/>
              <a:sym typeface="Calibri"/>
            </a:endParaRPr>
          </a:p>
        </p:txBody>
      </p:sp>
      <p:pic>
        <p:nvPicPr>
          <p:cNvPr id="93" name="Google Shape;93;p17"/>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94" name="Google Shape;94;p17"/>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grpSp>
        <p:nvGrpSpPr>
          <p:cNvPr id="99" name="Google Shape;99;p18"/>
          <p:cNvGrpSpPr/>
          <p:nvPr/>
        </p:nvGrpSpPr>
        <p:grpSpPr>
          <a:xfrm>
            <a:off x="1158838" y="1237825"/>
            <a:ext cx="6826325" cy="2667850"/>
            <a:chOff x="899700" y="1098375"/>
            <a:chExt cx="6826325" cy="2667850"/>
          </a:xfrm>
        </p:grpSpPr>
        <p:sp>
          <p:nvSpPr>
            <p:cNvPr id="100" name="Google Shape;100;p18"/>
            <p:cNvSpPr txBox="1"/>
            <p:nvPr/>
          </p:nvSpPr>
          <p:spPr>
            <a:xfrm>
              <a:off x="899700" y="1098375"/>
              <a:ext cx="6826200" cy="10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5850">
                  <a:solidFill>
                    <a:srgbClr val="BCC0C3"/>
                  </a:solidFill>
                  <a:highlight>
                    <a:srgbClr val="202124"/>
                  </a:highlight>
                </a:rPr>
                <a:t>CVE </a:t>
              </a:r>
              <a:r>
                <a:rPr lang="es" sz="5850">
                  <a:solidFill>
                    <a:srgbClr val="BDC1C6"/>
                  </a:solidFill>
                  <a:highlight>
                    <a:srgbClr val="202124"/>
                  </a:highlight>
                </a:rPr>
                <a:t>- 2021 - 44228</a:t>
              </a:r>
              <a:endParaRPr sz="6200"/>
            </a:p>
          </p:txBody>
        </p:sp>
        <p:sp>
          <p:nvSpPr>
            <p:cNvPr id="101" name="Google Shape;101;p18"/>
            <p:cNvSpPr/>
            <p:nvPr/>
          </p:nvSpPr>
          <p:spPr>
            <a:xfrm rot="5400000">
              <a:off x="1694000" y="1409425"/>
              <a:ext cx="180900" cy="14874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p:nvPr/>
          </p:nvSpPr>
          <p:spPr>
            <a:xfrm rot="5400000">
              <a:off x="3867950" y="1349425"/>
              <a:ext cx="180900" cy="16074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8"/>
            <p:cNvSpPr/>
            <p:nvPr/>
          </p:nvSpPr>
          <p:spPr>
            <a:xfrm rot="5400000">
              <a:off x="6417800" y="1142275"/>
              <a:ext cx="180900" cy="20217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nvSpPr>
          <p:spPr>
            <a:xfrm>
              <a:off x="1040750" y="2504125"/>
              <a:ext cx="16074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a:solidFill>
                    <a:schemeClr val="dk1"/>
                  </a:solidFill>
                </a:rPr>
                <a:t>Siglas de</a:t>
              </a:r>
              <a:endParaRPr>
                <a:solidFill>
                  <a:schemeClr val="dk1"/>
                </a:solidFill>
              </a:endParaRPr>
            </a:p>
            <a:p>
              <a:pPr indent="0" lvl="0" marL="0" rtl="0" algn="ctr">
                <a:spcBef>
                  <a:spcPts val="0"/>
                </a:spcBef>
                <a:spcAft>
                  <a:spcPts val="0"/>
                </a:spcAft>
                <a:buNone/>
              </a:pPr>
              <a:r>
                <a:rPr lang="es">
                  <a:solidFill>
                    <a:schemeClr val="dk1"/>
                  </a:solidFill>
                </a:rPr>
                <a:t>Common</a:t>
              </a:r>
              <a:endParaRPr>
                <a:solidFill>
                  <a:schemeClr val="dk1"/>
                </a:solidFill>
              </a:endParaRPr>
            </a:p>
            <a:p>
              <a:pPr indent="0" lvl="0" marL="0" rtl="0" algn="ctr">
                <a:spcBef>
                  <a:spcPts val="0"/>
                </a:spcBef>
                <a:spcAft>
                  <a:spcPts val="0"/>
                </a:spcAft>
                <a:buNone/>
              </a:pPr>
              <a:r>
                <a:rPr lang="es">
                  <a:solidFill>
                    <a:schemeClr val="dk1"/>
                  </a:solidFill>
                </a:rPr>
                <a:t>Vulnerabilities</a:t>
              </a:r>
              <a:endParaRPr>
                <a:solidFill>
                  <a:schemeClr val="dk1"/>
                </a:solidFill>
              </a:endParaRPr>
            </a:p>
            <a:p>
              <a:pPr indent="0" lvl="0" marL="0" rtl="0" algn="ctr">
                <a:spcBef>
                  <a:spcPts val="0"/>
                </a:spcBef>
                <a:spcAft>
                  <a:spcPts val="0"/>
                </a:spcAft>
                <a:buNone/>
              </a:pPr>
              <a:r>
                <a:rPr lang="es">
                  <a:solidFill>
                    <a:schemeClr val="dk1"/>
                  </a:solidFill>
                </a:rPr>
                <a:t>and</a:t>
              </a:r>
              <a:endParaRPr>
                <a:solidFill>
                  <a:schemeClr val="dk1"/>
                </a:solidFill>
              </a:endParaRPr>
            </a:p>
            <a:p>
              <a:pPr indent="0" lvl="0" marL="0" rtl="0" algn="ctr">
                <a:spcBef>
                  <a:spcPts val="0"/>
                </a:spcBef>
                <a:spcAft>
                  <a:spcPts val="0"/>
                </a:spcAft>
                <a:buNone/>
              </a:pPr>
              <a:r>
                <a:rPr lang="es">
                  <a:solidFill>
                    <a:schemeClr val="dk1"/>
                  </a:solidFill>
                </a:rPr>
                <a:t>Exposures</a:t>
              </a:r>
              <a:endParaRPr>
                <a:solidFill>
                  <a:schemeClr val="dk1"/>
                </a:solidFill>
              </a:endParaRPr>
            </a:p>
          </p:txBody>
        </p:sp>
        <p:sp>
          <p:nvSpPr>
            <p:cNvPr id="105" name="Google Shape;105;p18"/>
            <p:cNvSpPr txBox="1"/>
            <p:nvPr/>
          </p:nvSpPr>
          <p:spPr>
            <a:xfrm>
              <a:off x="3533450" y="2504125"/>
              <a:ext cx="849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a:solidFill>
                    <a:schemeClr val="dk1"/>
                  </a:solidFill>
                </a:rPr>
                <a:t>Año de</a:t>
              </a:r>
              <a:endParaRPr>
                <a:solidFill>
                  <a:schemeClr val="dk1"/>
                </a:solidFill>
              </a:endParaRPr>
            </a:p>
            <a:p>
              <a:pPr indent="0" lvl="0" marL="0" rtl="0" algn="ctr">
                <a:spcBef>
                  <a:spcPts val="0"/>
                </a:spcBef>
                <a:spcAft>
                  <a:spcPts val="0"/>
                </a:spcAft>
                <a:buNone/>
              </a:pPr>
              <a:r>
                <a:rPr lang="es">
                  <a:solidFill>
                    <a:schemeClr val="dk1"/>
                  </a:solidFill>
                </a:rPr>
                <a:t>registro</a:t>
              </a:r>
              <a:endParaRPr>
                <a:solidFill>
                  <a:schemeClr val="dk1"/>
                </a:solidFill>
              </a:endParaRPr>
            </a:p>
          </p:txBody>
        </p:sp>
        <p:sp>
          <p:nvSpPr>
            <p:cNvPr id="106" name="Google Shape;106;p18"/>
            <p:cNvSpPr txBox="1"/>
            <p:nvPr/>
          </p:nvSpPr>
          <p:spPr>
            <a:xfrm>
              <a:off x="5459525" y="2504125"/>
              <a:ext cx="2266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a:solidFill>
                    <a:schemeClr val="dk1"/>
                  </a:solidFill>
                </a:rPr>
                <a:t>Número</a:t>
              </a:r>
              <a:r>
                <a:rPr lang="es">
                  <a:solidFill>
                    <a:schemeClr val="dk1"/>
                  </a:solidFill>
                </a:rPr>
                <a:t> asignado a</a:t>
              </a:r>
              <a:endParaRPr>
                <a:solidFill>
                  <a:schemeClr val="dk1"/>
                </a:solidFill>
              </a:endParaRPr>
            </a:p>
            <a:p>
              <a:pPr indent="0" lvl="0" marL="0" rtl="0" algn="ctr">
                <a:spcBef>
                  <a:spcPts val="0"/>
                </a:spcBef>
                <a:spcAft>
                  <a:spcPts val="0"/>
                </a:spcAft>
                <a:buNone/>
              </a:pPr>
              <a:r>
                <a:rPr lang="es">
                  <a:solidFill>
                    <a:schemeClr val="dk1"/>
                  </a:solidFill>
                </a:rPr>
                <a:t>la vulnerabilidad</a:t>
              </a:r>
              <a:endParaRPr>
                <a:solidFill>
                  <a:schemeClr val="dk1"/>
                </a:solidFill>
              </a:endParaRPr>
            </a:p>
          </p:txBody>
        </p:sp>
      </p:grpSp>
      <p:pic>
        <p:nvPicPr>
          <p:cNvPr id="107" name="Google Shape;107;p18"/>
          <p:cNvPicPr preferRelativeResize="0"/>
          <p:nvPr/>
        </p:nvPicPr>
        <p:blipFill>
          <a:blip r:embed="rId3">
            <a:alphaModFix/>
          </a:blip>
          <a:stretch>
            <a:fillRect/>
          </a:stretch>
        </p:blipFill>
        <p:spPr>
          <a:xfrm>
            <a:off x="8420975" y="0"/>
            <a:ext cx="723026" cy="723026"/>
          </a:xfrm>
          <a:prstGeom prst="rect">
            <a:avLst/>
          </a:prstGeom>
          <a:noFill/>
          <a:ln>
            <a:noFill/>
          </a:ln>
        </p:spPr>
      </p:pic>
      <p:pic>
        <p:nvPicPr>
          <p:cNvPr id="108" name="Google Shape;108;p18"/>
          <p:cNvPicPr preferRelativeResize="0"/>
          <p:nvPr/>
        </p:nvPicPr>
        <p:blipFill>
          <a:blip r:embed="rId4">
            <a:alphaModFix/>
          </a:blip>
          <a:stretch>
            <a:fillRect/>
          </a:stretch>
        </p:blipFill>
        <p:spPr>
          <a:xfrm>
            <a:off x="6440900" y="117400"/>
            <a:ext cx="1986100" cy="488225"/>
          </a:xfrm>
          <a:prstGeom prst="rect">
            <a:avLst/>
          </a:prstGeom>
          <a:noFill/>
          <a:ln>
            <a:noFill/>
          </a:ln>
        </p:spPr>
      </p:pic>
      <p:sp>
        <p:nvSpPr>
          <p:cNvPr id="109" name="Google Shape;109;p18"/>
          <p:cNvSpPr txBox="1"/>
          <p:nvPr/>
        </p:nvSpPr>
        <p:spPr>
          <a:xfrm>
            <a:off x="2333862" y="652325"/>
            <a:ext cx="4476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300">
                <a:solidFill>
                  <a:schemeClr val="dk1"/>
                </a:solidFill>
                <a:latin typeface="Calibri"/>
                <a:ea typeface="Calibri"/>
                <a:cs typeface="Calibri"/>
                <a:sym typeface="Calibri"/>
              </a:rPr>
              <a:t>Ejemplo de vulnerabilidad de LOG4J</a:t>
            </a:r>
            <a:endParaRPr sz="23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19"/>
          <p:cNvPicPr preferRelativeResize="0"/>
          <p:nvPr/>
        </p:nvPicPr>
        <p:blipFill>
          <a:blip r:embed="rId3">
            <a:alphaModFix/>
          </a:blip>
          <a:stretch>
            <a:fillRect/>
          </a:stretch>
        </p:blipFill>
        <p:spPr>
          <a:xfrm>
            <a:off x="703396" y="1776100"/>
            <a:ext cx="2858750" cy="2858775"/>
          </a:xfrm>
          <a:prstGeom prst="rect">
            <a:avLst/>
          </a:prstGeom>
          <a:noFill/>
          <a:ln>
            <a:noFill/>
          </a:ln>
        </p:spPr>
      </p:pic>
      <p:sp>
        <p:nvSpPr>
          <p:cNvPr id="115" name="Google Shape;115;p19"/>
          <p:cNvSpPr txBox="1"/>
          <p:nvPr/>
        </p:nvSpPr>
        <p:spPr>
          <a:xfrm>
            <a:off x="3942450" y="446775"/>
            <a:ext cx="1259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2400">
                <a:solidFill>
                  <a:schemeClr val="dk1"/>
                </a:solidFill>
                <a:latin typeface="Calibri"/>
                <a:ea typeface="Calibri"/>
                <a:cs typeface="Calibri"/>
                <a:sym typeface="Calibri"/>
              </a:rPr>
              <a:t>Patching</a:t>
            </a:r>
            <a:endParaRPr sz="2400">
              <a:solidFill>
                <a:schemeClr val="dk1"/>
              </a:solidFill>
              <a:latin typeface="Calibri"/>
              <a:ea typeface="Calibri"/>
              <a:cs typeface="Calibri"/>
              <a:sym typeface="Calibri"/>
            </a:endParaRPr>
          </a:p>
        </p:txBody>
      </p:sp>
      <p:pic>
        <p:nvPicPr>
          <p:cNvPr id="116" name="Google Shape;116;p19"/>
          <p:cNvPicPr preferRelativeResize="0"/>
          <p:nvPr/>
        </p:nvPicPr>
        <p:blipFill>
          <a:blip r:embed="rId4">
            <a:alphaModFix/>
          </a:blip>
          <a:stretch>
            <a:fillRect/>
          </a:stretch>
        </p:blipFill>
        <p:spPr>
          <a:xfrm>
            <a:off x="4343212" y="1776100"/>
            <a:ext cx="4495988" cy="2612669"/>
          </a:xfrm>
          <a:prstGeom prst="rect">
            <a:avLst/>
          </a:prstGeom>
          <a:noFill/>
          <a:ln>
            <a:noFill/>
          </a:ln>
        </p:spPr>
      </p:pic>
      <p:pic>
        <p:nvPicPr>
          <p:cNvPr id="117" name="Google Shape;117;p19"/>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118" name="Google Shape;118;p19"/>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0"/>
          <p:cNvPicPr preferRelativeResize="0"/>
          <p:nvPr/>
        </p:nvPicPr>
        <p:blipFill>
          <a:blip r:embed="rId3">
            <a:alphaModFix/>
          </a:blip>
          <a:stretch>
            <a:fillRect/>
          </a:stretch>
        </p:blipFill>
        <p:spPr>
          <a:xfrm>
            <a:off x="0" y="0"/>
            <a:ext cx="9143990" cy="5143500"/>
          </a:xfrm>
          <a:prstGeom prst="rect">
            <a:avLst/>
          </a:prstGeom>
          <a:noFill/>
          <a:ln>
            <a:noFill/>
          </a:ln>
        </p:spPr>
      </p:pic>
      <p:pic>
        <p:nvPicPr>
          <p:cNvPr id="124" name="Google Shape;124;p20"/>
          <p:cNvPicPr preferRelativeResize="0"/>
          <p:nvPr/>
        </p:nvPicPr>
        <p:blipFill>
          <a:blip r:embed="rId4">
            <a:alphaModFix/>
          </a:blip>
          <a:stretch>
            <a:fillRect/>
          </a:stretch>
        </p:blipFill>
        <p:spPr>
          <a:xfrm>
            <a:off x="5608525" y="1363021"/>
            <a:ext cx="3183275" cy="1368800"/>
          </a:xfrm>
          <a:prstGeom prst="rect">
            <a:avLst/>
          </a:prstGeom>
          <a:noFill/>
          <a:ln>
            <a:noFill/>
          </a:ln>
        </p:spPr>
      </p:pic>
      <p:pic>
        <p:nvPicPr>
          <p:cNvPr id="125" name="Google Shape;125;p20"/>
          <p:cNvPicPr preferRelativeResize="0"/>
          <p:nvPr/>
        </p:nvPicPr>
        <p:blipFill>
          <a:blip r:embed="rId4">
            <a:alphaModFix/>
          </a:blip>
          <a:stretch>
            <a:fillRect/>
          </a:stretch>
        </p:blipFill>
        <p:spPr>
          <a:xfrm flipH="1">
            <a:off x="83875" y="1204846"/>
            <a:ext cx="3323350" cy="1429050"/>
          </a:xfrm>
          <a:prstGeom prst="rect">
            <a:avLst/>
          </a:prstGeom>
          <a:noFill/>
          <a:ln>
            <a:noFill/>
          </a:ln>
        </p:spPr>
      </p:pic>
      <p:pic>
        <p:nvPicPr>
          <p:cNvPr id="126" name="Google Shape;126;p20"/>
          <p:cNvPicPr preferRelativeResize="0"/>
          <p:nvPr/>
        </p:nvPicPr>
        <p:blipFill>
          <a:blip r:embed="rId4">
            <a:alphaModFix/>
          </a:blip>
          <a:stretch>
            <a:fillRect/>
          </a:stretch>
        </p:blipFill>
        <p:spPr>
          <a:xfrm>
            <a:off x="4259325" y="1475994"/>
            <a:ext cx="2657750" cy="1142850"/>
          </a:xfrm>
          <a:prstGeom prst="rect">
            <a:avLst/>
          </a:prstGeom>
          <a:noFill/>
          <a:ln>
            <a:noFill/>
          </a:ln>
        </p:spPr>
      </p:pic>
      <p:pic>
        <p:nvPicPr>
          <p:cNvPr id="127" name="Google Shape;127;p20"/>
          <p:cNvPicPr preferRelativeResize="0"/>
          <p:nvPr/>
        </p:nvPicPr>
        <p:blipFill>
          <a:blip r:embed="rId4">
            <a:alphaModFix/>
          </a:blip>
          <a:stretch>
            <a:fillRect/>
          </a:stretch>
        </p:blipFill>
        <p:spPr>
          <a:xfrm flipH="1">
            <a:off x="2234800" y="1475994"/>
            <a:ext cx="2657750" cy="1142850"/>
          </a:xfrm>
          <a:prstGeom prst="rect">
            <a:avLst/>
          </a:prstGeom>
          <a:noFill/>
          <a:ln>
            <a:noFill/>
          </a:ln>
        </p:spPr>
      </p:pic>
      <p:pic>
        <p:nvPicPr>
          <p:cNvPr id="128" name="Google Shape;128;p20"/>
          <p:cNvPicPr preferRelativeResize="0"/>
          <p:nvPr/>
        </p:nvPicPr>
        <p:blipFill>
          <a:blip r:embed="rId5">
            <a:alphaModFix/>
          </a:blip>
          <a:stretch>
            <a:fillRect/>
          </a:stretch>
        </p:blipFill>
        <p:spPr>
          <a:xfrm>
            <a:off x="8420975" y="0"/>
            <a:ext cx="723026" cy="723026"/>
          </a:xfrm>
          <a:prstGeom prst="rect">
            <a:avLst/>
          </a:prstGeom>
          <a:noFill/>
          <a:ln>
            <a:noFill/>
          </a:ln>
        </p:spPr>
      </p:pic>
      <p:sp>
        <p:nvSpPr>
          <p:cNvPr id="129" name="Google Shape;129;p20"/>
          <p:cNvSpPr txBox="1"/>
          <p:nvPr/>
        </p:nvSpPr>
        <p:spPr>
          <a:xfrm>
            <a:off x="151525" y="3495875"/>
            <a:ext cx="88569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3300">
                <a:solidFill>
                  <a:schemeClr val="dk1"/>
                </a:solidFill>
              </a:rPr>
              <a:t>Pero todo </a:t>
            </a:r>
            <a:r>
              <a:rPr b="1" lang="es" sz="3300">
                <a:solidFill>
                  <a:schemeClr val="dk1"/>
                </a:solidFill>
              </a:rPr>
              <a:t>cambió</a:t>
            </a:r>
            <a:r>
              <a:rPr b="1" lang="es" sz="3300">
                <a:solidFill>
                  <a:schemeClr val="dk1"/>
                </a:solidFill>
              </a:rPr>
              <a:t> cuando </a:t>
            </a:r>
            <a:r>
              <a:rPr b="1" lang="es" sz="3300" strike="sngStrike">
                <a:solidFill>
                  <a:schemeClr val="dk1"/>
                </a:solidFill>
              </a:rPr>
              <a:t>la </a:t>
            </a:r>
            <a:r>
              <a:rPr b="1" lang="es" sz="3300" strike="sngStrike">
                <a:solidFill>
                  <a:schemeClr val="dk1"/>
                </a:solidFill>
              </a:rPr>
              <a:t>nación</a:t>
            </a:r>
            <a:r>
              <a:rPr b="1" lang="es" sz="3300" strike="sngStrike">
                <a:solidFill>
                  <a:schemeClr val="dk1"/>
                </a:solidFill>
              </a:rPr>
              <a:t> del fuego atacó</a:t>
            </a:r>
            <a:r>
              <a:rPr b="1" lang="es" sz="3300">
                <a:solidFill>
                  <a:schemeClr val="dk1"/>
                </a:solidFill>
              </a:rPr>
              <a:t> llegaron los contenedores</a:t>
            </a:r>
            <a:endParaRPr b="1" sz="3300">
              <a:solidFill>
                <a:schemeClr val="dk1"/>
              </a:solidFill>
            </a:endParaRPr>
          </a:p>
        </p:txBody>
      </p:sp>
      <p:pic>
        <p:nvPicPr>
          <p:cNvPr id="130" name="Google Shape;130;p20"/>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nvSpPr>
        <p:spPr>
          <a:xfrm>
            <a:off x="4573675" y="1592475"/>
            <a:ext cx="30000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2800">
                <a:solidFill>
                  <a:schemeClr val="accent1"/>
                </a:solidFill>
                <a:latin typeface="Calibri"/>
                <a:ea typeface="Calibri"/>
                <a:cs typeface="Calibri"/>
                <a:sym typeface="Calibri"/>
              </a:rPr>
              <a:t>S</a:t>
            </a:r>
            <a:r>
              <a:rPr lang="es" sz="2800">
                <a:solidFill>
                  <a:schemeClr val="dk1"/>
                </a:solidFill>
                <a:latin typeface="Calibri"/>
                <a:ea typeface="Calibri"/>
                <a:cs typeface="Calibri"/>
                <a:sym typeface="Calibri"/>
              </a:rPr>
              <a:t>upply chain </a:t>
            </a:r>
            <a:endParaRPr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s" sz="2800">
                <a:solidFill>
                  <a:schemeClr val="accent1"/>
                </a:solidFill>
                <a:latin typeface="Calibri"/>
                <a:ea typeface="Calibri"/>
                <a:cs typeface="Calibri"/>
                <a:sym typeface="Calibri"/>
              </a:rPr>
              <a:t>L</a:t>
            </a:r>
            <a:r>
              <a:rPr lang="es" sz="2800">
                <a:solidFill>
                  <a:schemeClr val="dk1"/>
                </a:solidFill>
                <a:latin typeface="Calibri"/>
                <a:ea typeface="Calibri"/>
                <a:cs typeface="Calibri"/>
                <a:sym typeface="Calibri"/>
              </a:rPr>
              <a:t>evels for </a:t>
            </a:r>
            <a:endParaRPr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s" sz="2800">
                <a:solidFill>
                  <a:schemeClr val="accent1"/>
                </a:solidFill>
                <a:latin typeface="Calibri"/>
                <a:ea typeface="Calibri"/>
                <a:cs typeface="Calibri"/>
                <a:sym typeface="Calibri"/>
              </a:rPr>
              <a:t>S</a:t>
            </a:r>
            <a:r>
              <a:rPr lang="es" sz="2800">
                <a:solidFill>
                  <a:schemeClr val="dk1"/>
                </a:solidFill>
                <a:latin typeface="Calibri"/>
                <a:ea typeface="Calibri"/>
                <a:cs typeface="Calibri"/>
                <a:sym typeface="Calibri"/>
              </a:rPr>
              <a:t>oftware </a:t>
            </a:r>
            <a:endParaRPr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s" sz="2800">
                <a:solidFill>
                  <a:schemeClr val="accent1"/>
                </a:solidFill>
                <a:latin typeface="Calibri"/>
                <a:ea typeface="Calibri"/>
                <a:cs typeface="Calibri"/>
                <a:sym typeface="Calibri"/>
              </a:rPr>
              <a:t>A</a:t>
            </a:r>
            <a:r>
              <a:rPr lang="es" sz="2800">
                <a:solidFill>
                  <a:schemeClr val="dk1"/>
                </a:solidFill>
                <a:latin typeface="Calibri"/>
                <a:ea typeface="Calibri"/>
                <a:cs typeface="Calibri"/>
                <a:sym typeface="Calibri"/>
              </a:rPr>
              <a:t>rtifacts,</a:t>
            </a:r>
            <a:endParaRPr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s" sz="2800">
                <a:solidFill>
                  <a:schemeClr val="dk1"/>
                </a:solidFill>
                <a:latin typeface="Calibri"/>
                <a:ea typeface="Calibri"/>
                <a:cs typeface="Calibri"/>
                <a:sym typeface="Calibri"/>
              </a:rPr>
              <a:t>or </a:t>
            </a:r>
            <a:r>
              <a:rPr lang="es" sz="2800">
                <a:solidFill>
                  <a:schemeClr val="accent1"/>
                </a:solidFill>
                <a:latin typeface="Calibri"/>
                <a:ea typeface="Calibri"/>
                <a:cs typeface="Calibri"/>
                <a:sym typeface="Calibri"/>
              </a:rPr>
              <a:t>SLSA</a:t>
            </a:r>
            <a:r>
              <a:rPr lang="es" sz="2800">
                <a:solidFill>
                  <a:schemeClr val="dk1"/>
                </a:solidFill>
                <a:latin typeface="Calibri"/>
                <a:ea typeface="Calibri"/>
                <a:cs typeface="Calibri"/>
                <a:sym typeface="Calibri"/>
              </a:rPr>
              <a:t> (salsa)</a:t>
            </a:r>
            <a:endParaRPr sz="2800">
              <a:solidFill>
                <a:schemeClr val="dk1"/>
              </a:solidFill>
              <a:latin typeface="Calibri"/>
              <a:ea typeface="Calibri"/>
              <a:cs typeface="Calibri"/>
              <a:sym typeface="Calibri"/>
            </a:endParaRPr>
          </a:p>
        </p:txBody>
      </p:sp>
      <p:sp>
        <p:nvSpPr>
          <p:cNvPr id="136" name="Google Shape;136;p21"/>
          <p:cNvSpPr txBox="1"/>
          <p:nvPr/>
        </p:nvSpPr>
        <p:spPr>
          <a:xfrm>
            <a:off x="7749000" y="4743300"/>
            <a:ext cx="162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rPr>
              <a:t>https://slsa.dev/</a:t>
            </a:r>
            <a:endParaRPr>
              <a:solidFill>
                <a:schemeClr val="dk1"/>
              </a:solidFill>
            </a:endParaRPr>
          </a:p>
        </p:txBody>
      </p:sp>
      <p:pic>
        <p:nvPicPr>
          <p:cNvPr id="137" name="Google Shape;137;p21"/>
          <p:cNvPicPr preferRelativeResize="0"/>
          <p:nvPr/>
        </p:nvPicPr>
        <p:blipFill>
          <a:blip r:embed="rId3">
            <a:alphaModFix/>
          </a:blip>
          <a:stretch>
            <a:fillRect/>
          </a:stretch>
        </p:blipFill>
        <p:spPr>
          <a:xfrm>
            <a:off x="8420975" y="0"/>
            <a:ext cx="723026" cy="723026"/>
          </a:xfrm>
          <a:prstGeom prst="rect">
            <a:avLst/>
          </a:prstGeom>
          <a:noFill/>
          <a:ln>
            <a:noFill/>
          </a:ln>
        </p:spPr>
      </p:pic>
      <p:pic>
        <p:nvPicPr>
          <p:cNvPr id="138" name="Google Shape;138;p21"/>
          <p:cNvPicPr preferRelativeResize="0"/>
          <p:nvPr/>
        </p:nvPicPr>
        <p:blipFill>
          <a:blip r:embed="rId4">
            <a:alphaModFix/>
          </a:blip>
          <a:stretch>
            <a:fillRect/>
          </a:stretch>
        </p:blipFill>
        <p:spPr>
          <a:xfrm>
            <a:off x="782000" y="1099563"/>
            <a:ext cx="2944375" cy="2944375"/>
          </a:xfrm>
          <a:prstGeom prst="rect">
            <a:avLst/>
          </a:prstGeom>
          <a:noFill/>
          <a:ln>
            <a:noFill/>
          </a:ln>
        </p:spPr>
      </p:pic>
      <p:sp>
        <p:nvSpPr>
          <p:cNvPr id="139" name="Google Shape;139;p21"/>
          <p:cNvSpPr txBox="1"/>
          <p:nvPr/>
        </p:nvSpPr>
        <p:spPr>
          <a:xfrm>
            <a:off x="4573675" y="723025"/>
            <a:ext cx="300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3600">
                <a:solidFill>
                  <a:schemeClr val="dk1"/>
                </a:solidFill>
                <a:latin typeface="Calibri"/>
                <a:ea typeface="Calibri"/>
                <a:cs typeface="Calibri"/>
                <a:sym typeface="Calibri"/>
              </a:rPr>
              <a:t>¿Qué es SLSA?</a:t>
            </a:r>
            <a:endParaRPr sz="3600">
              <a:solidFill>
                <a:schemeClr val="dk1"/>
              </a:solidFill>
              <a:latin typeface="Calibri"/>
              <a:ea typeface="Calibri"/>
              <a:cs typeface="Calibri"/>
              <a:sym typeface="Calibri"/>
            </a:endParaRPr>
          </a:p>
        </p:txBody>
      </p:sp>
      <p:pic>
        <p:nvPicPr>
          <p:cNvPr id="140" name="Google Shape;140;p21"/>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nvSpPr>
        <p:spPr>
          <a:xfrm>
            <a:off x="1343200" y="723050"/>
            <a:ext cx="6773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Es un framework, una lista de verificación de estándares y controles para evitar la manipulación</a:t>
            </a:r>
            <a:endParaRPr sz="2400">
              <a:solidFill>
                <a:schemeClr val="dk1"/>
              </a:solidFill>
              <a:latin typeface="Calibri"/>
              <a:ea typeface="Calibri"/>
              <a:cs typeface="Calibri"/>
              <a:sym typeface="Calibri"/>
            </a:endParaRPr>
          </a:p>
        </p:txBody>
      </p:sp>
      <p:sp>
        <p:nvSpPr>
          <p:cNvPr id="146" name="Google Shape;146;p22"/>
          <p:cNvSpPr txBox="1"/>
          <p:nvPr/>
        </p:nvSpPr>
        <p:spPr>
          <a:xfrm>
            <a:off x="1343200" y="2126875"/>
            <a:ext cx="7157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M</a:t>
            </a:r>
            <a:r>
              <a:rPr lang="es" sz="2400">
                <a:solidFill>
                  <a:schemeClr val="dk1"/>
                </a:solidFill>
                <a:latin typeface="Calibri"/>
                <a:ea typeface="Calibri"/>
                <a:cs typeface="Calibri"/>
                <a:sym typeface="Calibri"/>
              </a:rPr>
              <a:t>ejorar la integridad y proteger los paquetes y la infraestructura en sus proyectos, negocios o empresas. </a:t>
            </a:r>
            <a:endParaRPr sz="2400">
              <a:solidFill>
                <a:schemeClr val="dk1"/>
              </a:solidFill>
              <a:latin typeface="Calibri"/>
              <a:ea typeface="Calibri"/>
              <a:cs typeface="Calibri"/>
              <a:sym typeface="Calibri"/>
            </a:endParaRPr>
          </a:p>
        </p:txBody>
      </p:sp>
      <p:sp>
        <p:nvSpPr>
          <p:cNvPr id="147" name="Google Shape;147;p22"/>
          <p:cNvSpPr txBox="1"/>
          <p:nvPr/>
        </p:nvSpPr>
        <p:spPr>
          <a:xfrm>
            <a:off x="1343200" y="3759300"/>
            <a:ext cx="71577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2400">
                <a:solidFill>
                  <a:schemeClr val="dk1"/>
                </a:solidFill>
                <a:latin typeface="Calibri"/>
                <a:ea typeface="Calibri"/>
                <a:cs typeface="Calibri"/>
                <a:sym typeface="Calibri"/>
              </a:rPr>
              <a:t>Es una forma de mejorar la postura de seguridad en toda la cadena de desarrollo de software</a:t>
            </a:r>
            <a:endParaRPr sz="2400">
              <a:solidFill>
                <a:schemeClr val="dk1"/>
              </a:solidFill>
              <a:latin typeface="Calibri"/>
              <a:ea typeface="Calibri"/>
              <a:cs typeface="Calibri"/>
              <a:sym typeface="Calibri"/>
            </a:endParaRPr>
          </a:p>
        </p:txBody>
      </p:sp>
      <p:pic>
        <p:nvPicPr>
          <p:cNvPr id="148" name="Google Shape;148;p22"/>
          <p:cNvPicPr preferRelativeResize="0"/>
          <p:nvPr/>
        </p:nvPicPr>
        <p:blipFill>
          <a:blip r:embed="rId3">
            <a:alphaModFix/>
          </a:blip>
          <a:stretch>
            <a:fillRect/>
          </a:stretch>
        </p:blipFill>
        <p:spPr>
          <a:xfrm>
            <a:off x="423550" y="830513"/>
            <a:ext cx="708474" cy="708474"/>
          </a:xfrm>
          <a:prstGeom prst="rect">
            <a:avLst/>
          </a:prstGeom>
          <a:noFill/>
          <a:ln>
            <a:noFill/>
          </a:ln>
        </p:spPr>
      </p:pic>
      <p:pic>
        <p:nvPicPr>
          <p:cNvPr id="149" name="Google Shape;149;p22"/>
          <p:cNvPicPr preferRelativeResize="0"/>
          <p:nvPr/>
        </p:nvPicPr>
        <p:blipFill>
          <a:blip r:embed="rId3">
            <a:alphaModFix/>
          </a:blip>
          <a:stretch>
            <a:fillRect/>
          </a:stretch>
        </p:blipFill>
        <p:spPr>
          <a:xfrm>
            <a:off x="423550" y="2234338"/>
            <a:ext cx="708474" cy="708474"/>
          </a:xfrm>
          <a:prstGeom prst="rect">
            <a:avLst/>
          </a:prstGeom>
          <a:noFill/>
          <a:ln>
            <a:noFill/>
          </a:ln>
        </p:spPr>
      </p:pic>
      <p:pic>
        <p:nvPicPr>
          <p:cNvPr id="150" name="Google Shape;150;p22"/>
          <p:cNvPicPr preferRelativeResize="0"/>
          <p:nvPr/>
        </p:nvPicPr>
        <p:blipFill>
          <a:blip r:embed="rId3">
            <a:alphaModFix/>
          </a:blip>
          <a:stretch>
            <a:fillRect/>
          </a:stretch>
        </p:blipFill>
        <p:spPr>
          <a:xfrm>
            <a:off x="423550" y="3822963"/>
            <a:ext cx="708474" cy="708474"/>
          </a:xfrm>
          <a:prstGeom prst="rect">
            <a:avLst/>
          </a:prstGeom>
          <a:noFill/>
          <a:ln>
            <a:noFill/>
          </a:ln>
        </p:spPr>
      </p:pic>
      <p:sp>
        <p:nvSpPr>
          <p:cNvPr id="151" name="Google Shape;151;p22"/>
          <p:cNvSpPr txBox="1"/>
          <p:nvPr/>
        </p:nvSpPr>
        <p:spPr>
          <a:xfrm>
            <a:off x="7749000" y="4743300"/>
            <a:ext cx="162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rPr>
              <a:t>https://slsa.dev/</a:t>
            </a:r>
            <a:endParaRPr>
              <a:solidFill>
                <a:schemeClr val="dk1"/>
              </a:solidFill>
            </a:endParaRPr>
          </a:p>
        </p:txBody>
      </p:sp>
      <p:pic>
        <p:nvPicPr>
          <p:cNvPr id="152" name="Google Shape;152;p22"/>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153" name="Google Shape;153;p22"/>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23"/>
          <p:cNvPicPr preferRelativeResize="0"/>
          <p:nvPr/>
        </p:nvPicPr>
        <p:blipFill>
          <a:blip r:embed="rId3">
            <a:alphaModFix/>
          </a:blip>
          <a:stretch>
            <a:fillRect/>
          </a:stretch>
        </p:blipFill>
        <p:spPr>
          <a:xfrm>
            <a:off x="806375" y="596400"/>
            <a:ext cx="969952" cy="995932"/>
          </a:xfrm>
          <a:prstGeom prst="rect">
            <a:avLst/>
          </a:prstGeom>
          <a:noFill/>
          <a:ln>
            <a:noFill/>
          </a:ln>
        </p:spPr>
      </p:pic>
      <p:pic>
        <p:nvPicPr>
          <p:cNvPr id="159" name="Google Shape;159;p23"/>
          <p:cNvPicPr preferRelativeResize="0"/>
          <p:nvPr/>
        </p:nvPicPr>
        <p:blipFill>
          <a:blip r:embed="rId4">
            <a:alphaModFix/>
          </a:blip>
          <a:stretch>
            <a:fillRect/>
          </a:stretch>
        </p:blipFill>
        <p:spPr>
          <a:xfrm>
            <a:off x="806375" y="1753013"/>
            <a:ext cx="969952" cy="995932"/>
          </a:xfrm>
          <a:prstGeom prst="rect">
            <a:avLst/>
          </a:prstGeom>
          <a:noFill/>
          <a:ln>
            <a:noFill/>
          </a:ln>
        </p:spPr>
      </p:pic>
      <p:pic>
        <p:nvPicPr>
          <p:cNvPr id="160" name="Google Shape;160;p23"/>
          <p:cNvPicPr preferRelativeResize="0"/>
          <p:nvPr/>
        </p:nvPicPr>
        <p:blipFill>
          <a:blip r:embed="rId5">
            <a:alphaModFix/>
          </a:blip>
          <a:stretch>
            <a:fillRect/>
          </a:stretch>
        </p:blipFill>
        <p:spPr>
          <a:xfrm>
            <a:off x="806375" y="2909626"/>
            <a:ext cx="969952" cy="995932"/>
          </a:xfrm>
          <a:prstGeom prst="rect">
            <a:avLst/>
          </a:prstGeom>
          <a:noFill/>
          <a:ln>
            <a:noFill/>
          </a:ln>
        </p:spPr>
      </p:pic>
      <p:pic>
        <p:nvPicPr>
          <p:cNvPr id="161" name="Google Shape;161;p23"/>
          <p:cNvPicPr preferRelativeResize="0"/>
          <p:nvPr/>
        </p:nvPicPr>
        <p:blipFill>
          <a:blip r:embed="rId6">
            <a:alphaModFix/>
          </a:blip>
          <a:stretch>
            <a:fillRect/>
          </a:stretch>
        </p:blipFill>
        <p:spPr>
          <a:xfrm>
            <a:off x="806375" y="4066239"/>
            <a:ext cx="969952" cy="995932"/>
          </a:xfrm>
          <a:prstGeom prst="rect">
            <a:avLst/>
          </a:prstGeom>
          <a:noFill/>
          <a:ln>
            <a:noFill/>
          </a:ln>
        </p:spPr>
      </p:pic>
      <p:sp>
        <p:nvSpPr>
          <p:cNvPr id="162" name="Google Shape;162;p23"/>
          <p:cNvSpPr txBox="1"/>
          <p:nvPr/>
        </p:nvSpPr>
        <p:spPr>
          <a:xfrm>
            <a:off x="2117284" y="596400"/>
            <a:ext cx="5259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Nivel 1</a:t>
            </a:r>
            <a:endParaRPr>
              <a:solidFill>
                <a:schemeClr val="dk1"/>
              </a:solidFill>
              <a:latin typeface="Calibri"/>
              <a:ea typeface="Calibri"/>
              <a:cs typeface="Calibri"/>
              <a:sym typeface="Calibri"/>
            </a:endParaRPr>
          </a:p>
          <a:p>
            <a:pPr indent="0" lvl="0" marL="0" rtl="0" algn="l">
              <a:spcBef>
                <a:spcPts val="0"/>
              </a:spcBef>
              <a:spcAft>
                <a:spcPts val="0"/>
              </a:spcAft>
              <a:buNone/>
            </a:pPr>
            <a:r>
              <a:rPr lang="es">
                <a:solidFill>
                  <a:schemeClr val="dk1"/>
                </a:solidFill>
                <a:latin typeface="Calibri"/>
                <a:ea typeface="Calibri"/>
                <a:cs typeface="Calibri"/>
                <a:sym typeface="Calibri"/>
              </a:rPr>
              <a:t>Documentación</a:t>
            </a:r>
            <a:r>
              <a:rPr lang="es">
                <a:solidFill>
                  <a:schemeClr val="dk1"/>
                </a:solidFill>
                <a:latin typeface="Calibri"/>
                <a:ea typeface="Calibri"/>
                <a:cs typeface="Calibri"/>
                <a:sym typeface="Calibri"/>
              </a:rPr>
              <a:t> del proceso de construcción</a:t>
            </a:r>
            <a:endParaRPr>
              <a:solidFill>
                <a:schemeClr val="dk1"/>
              </a:solidFill>
              <a:latin typeface="Calibri"/>
              <a:ea typeface="Calibri"/>
              <a:cs typeface="Calibri"/>
              <a:sym typeface="Calibri"/>
            </a:endParaRPr>
          </a:p>
          <a:p>
            <a:pPr indent="0" lvl="0" marL="0" rtl="0" algn="l">
              <a:spcBef>
                <a:spcPts val="0"/>
              </a:spcBef>
              <a:spcAft>
                <a:spcPts val="0"/>
              </a:spcAft>
              <a:buNone/>
            </a:pPr>
            <a:r>
              <a:rPr lang="es" u="sng">
                <a:solidFill>
                  <a:schemeClr val="dk1"/>
                </a:solidFill>
                <a:latin typeface="Calibri"/>
                <a:ea typeface="Calibri"/>
                <a:cs typeface="Calibri"/>
                <a:sym typeface="Calibri"/>
              </a:rPr>
              <a:t>Ejemplo</a:t>
            </a:r>
            <a:r>
              <a:rPr lang="es">
                <a:solidFill>
                  <a:schemeClr val="dk1"/>
                </a:solidFill>
                <a:latin typeface="Calibri"/>
                <a:ea typeface="Calibri"/>
                <a:cs typeface="Calibri"/>
                <a:sym typeface="Calibri"/>
              </a:rPr>
              <a:t>: Aviso de procedencia no verificada</a:t>
            </a:r>
            <a:endParaRPr>
              <a:solidFill>
                <a:schemeClr val="dk1"/>
              </a:solidFill>
              <a:latin typeface="Calibri"/>
              <a:ea typeface="Calibri"/>
              <a:cs typeface="Calibri"/>
              <a:sym typeface="Calibri"/>
            </a:endParaRPr>
          </a:p>
        </p:txBody>
      </p:sp>
      <p:sp>
        <p:nvSpPr>
          <p:cNvPr id="163" name="Google Shape;163;p23"/>
          <p:cNvSpPr txBox="1"/>
          <p:nvPr/>
        </p:nvSpPr>
        <p:spPr>
          <a:xfrm>
            <a:off x="2117275" y="1704502"/>
            <a:ext cx="5259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Nivel 2</a:t>
            </a:r>
            <a:endParaRPr>
              <a:solidFill>
                <a:schemeClr val="dk1"/>
              </a:solidFill>
              <a:latin typeface="Calibri"/>
              <a:ea typeface="Calibri"/>
              <a:cs typeface="Calibri"/>
              <a:sym typeface="Calibri"/>
            </a:endParaRPr>
          </a:p>
          <a:p>
            <a:pPr indent="0" lvl="0" marL="0" rtl="0" algn="l">
              <a:spcBef>
                <a:spcPts val="0"/>
              </a:spcBef>
              <a:spcAft>
                <a:spcPts val="0"/>
              </a:spcAft>
              <a:buNone/>
            </a:pPr>
            <a:r>
              <a:rPr lang="es">
                <a:solidFill>
                  <a:schemeClr val="dk1"/>
                </a:solidFill>
                <a:latin typeface="Calibri"/>
                <a:ea typeface="Calibri"/>
                <a:cs typeface="Calibri"/>
                <a:sym typeface="Calibri"/>
              </a:rPr>
              <a:t>Resistencia a la manipulación del servicio de compilación</a:t>
            </a:r>
            <a:endParaRPr>
              <a:solidFill>
                <a:schemeClr val="dk1"/>
              </a:solidFill>
              <a:latin typeface="Calibri"/>
              <a:ea typeface="Calibri"/>
              <a:cs typeface="Calibri"/>
              <a:sym typeface="Calibri"/>
            </a:endParaRPr>
          </a:p>
          <a:p>
            <a:pPr indent="0" lvl="0" marL="0" rtl="0" algn="l">
              <a:spcBef>
                <a:spcPts val="0"/>
              </a:spcBef>
              <a:spcAft>
                <a:spcPts val="0"/>
              </a:spcAft>
              <a:buNone/>
            </a:pPr>
            <a:r>
              <a:rPr lang="es" u="sng">
                <a:solidFill>
                  <a:schemeClr val="dk1"/>
                </a:solidFill>
                <a:latin typeface="Calibri"/>
                <a:ea typeface="Calibri"/>
                <a:cs typeface="Calibri"/>
                <a:sym typeface="Calibri"/>
              </a:rPr>
              <a:t>Ejemplo</a:t>
            </a:r>
            <a:r>
              <a:rPr lang="es">
                <a:solidFill>
                  <a:schemeClr val="dk1"/>
                </a:solidFill>
                <a:latin typeface="Calibri"/>
                <a:ea typeface="Calibri"/>
                <a:cs typeface="Calibri"/>
                <a:sym typeface="Calibri"/>
              </a:rPr>
              <a:t>: Fuente/construcción firmada, procedencia firmada</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
        <p:nvSpPr>
          <p:cNvPr id="164" name="Google Shape;164;p23"/>
          <p:cNvSpPr txBox="1"/>
          <p:nvPr/>
        </p:nvSpPr>
        <p:spPr>
          <a:xfrm>
            <a:off x="2117284" y="2861801"/>
            <a:ext cx="55599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Nivel 3</a:t>
            </a:r>
            <a:endParaRPr>
              <a:solidFill>
                <a:schemeClr val="dk1"/>
              </a:solidFill>
              <a:latin typeface="Calibri"/>
              <a:ea typeface="Calibri"/>
              <a:cs typeface="Calibri"/>
              <a:sym typeface="Calibri"/>
            </a:endParaRPr>
          </a:p>
          <a:p>
            <a:pPr indent="0" lvl="0" marL="0" rtl="0" algn="l">
              <a:spcBef>
                <a:spcPts val="0"/>
              </a:spcBef>
              <a:spcAft>
                <a:spcPts val="0"/>
              </a:spcAft>
              <a:buNone/>
            </a:pPr>
            <a:r>
              <a:rPr lang="es">
                <a:solidFill>
                  <a:schemeClr val="dk1"/>
                </a:solidFill>
                <a:latin typeface="Calibri"/>
                <a:ea typeface="Calibri"/>
                <a:cs typeface="Calibri"/>
                <a:sym typeface="Calibri"/>
              </a:rPr>
              <a:t>Resistencia extra a amenazas </a:t>
            </a:r>
            <a:r>
              <a:rPr lang="es">
                <a:solidFill>
                  <a:schemeClr val="dk1"/>
                </a:solidFill>
                <a:latin typeface="Calibri"/>
                <a:ea typeface="Calibri"/>
                <a:cs typeface="Calibri"/>
                <a:sym typeface="Calibri"/>
              </a:rPr>
              <a:t>específicas</a:t>
            </a:r>
            <a:endParaRPr>
              <a:solidFill>
                <a:schemeClr val="dk1"/>
              </a:solidFill>
              <a:latin typeface="Calibri"/>
              <a:ea typeface="Calibri"/>
              <a:cs typeface="Calibri"/>
              <a:sym typeface="Calibri"/>
            </a:endParaRPr>
          </a:p>
          <a:p>
            <a:pPr indent="0" lvl="0" marL="0" rtl="0" algn="l">
              <a:spcBef>
                <a:spcPts val="0"/>
              </a:spcBef>
              <a:spcAft>
                <a:spcPts val="0"/>
              </a:spcAft>
              <a:buNone/>
            </a:pPr>
            <a:r>
              <a:rPr lang="es" u="sng">
                <a:solidFill>
                  <a:schemeClr val="dk1"/>
                </a:solidFill>
                <a:latin typeface="Calibri"/>
                <a:ea typeface="Calibri"/>
                <a:cs typeface="Calibri"/>
                <a:sym typeface="Calibri"/>
              </a:rPr>
              <a:t>Ejemplo</a:t>
            </a:r>
            <a:r>
              <a:rPr lang="es">
                <a:solidFill>
                  <a:schemeClr val="dk1"/>
                </a:solidFill>
                <a:latin typeface="Calibri"/>
                <a:ea typeface="Calibri"/>
                <a:cs typeface="Calibri"/>
                <a:sym typeface="Calibri"/>
              </a:rPr>
              <a:t>: Controles de seguridad en el host, procedencia no falsificable</a:t>
            </a:r>
            <a:endParaRPr>
              <a:solidFill>
                <a:schemeClr val="dk1"/>
              </a:solidFill>
              <a:latin typeface="Calibri"/>
              <a:ea typeface="Calibri"/>
              <a:cs typeface="Calibri"/>
              <a:sym typeface="Calibri"/>
            </a:endParaRPr>
          </a:p>
        </p:txBody>
      </p:sp>
      <p:sp>
        <p:nvSpPr>
          <p:cNvPr id="165" name="Google Shape;165;p23"/>
          <p:cNvSpPr txBox="1"/>
          <p:nvPr/>
        </p:nvSpPr>
        <p:spPr>
          <a:xfrm>
            <a:off x="2117284" y="4019096"/>
            <a:ext cx="5259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Nivel 4</a:t>
            </a:r>
            <a:endParaRPr>
              <a:solidFill>
                <a:schemeClr val="dk1"/>
              </a:solidFill>
              <a:latin typeface="Calibri"/>
              <a:ea typeface="Calibri"/>
              <a:cs typeface="Calibri"/>
              <a:sym typeface="Calibri"/>
            </a:endParaRPr>
          </a:p>
          <a:p>
            <a:pPr indent="0" lvl="0" marL="0" rtl="0" algn="l">
              <a:spcBef>
                <a:spcPts val="0"/>
              </a:spcBef>
              <a:spcAft>
                <a:spcPts val="0"/>
              </a:spcAft>
              <a:buNone/>
            </a:pPr>
            <a:r>
              <a:rPr lang="es">
                <a:solidFill>
                  <a:schemeClr val="dk1"/>
                </a:solidFill>
                <a:latin typeface="Calibri"/>
                <a:ea typeface="Calibri"/>
                <a:cs typeface="Calibri"/>
                <a:sym typeface="Calibri"/>
              </a:rPr>
              <a:t>Los más altos niveles de seguridad y confianza</a:t>
            </a:r>
            <a:endParaRPr>
              <a:solidFill>
                <a:schemeClr val="dk1"/>
              </a:solidFill>
              <a:latin typeface="Calibri"/>
              <a:ea typeface="Calibri"/>
              <a:cs typeface="Calibri"/>
              <a:sym typeface="Calibri"/>
            </a:endParaRPr>
          </a:p>
          <a:p>
            <a:pPr indent="0" lvl="0" marL="0" rtl="0" algn="l">
              <a:spcBef>
                <a:spcPts val="0"/>
              </a:spcBef>
              <a:spcAft>
                <a:spcPts val="0"/>
              </a:spcAft>
              <a:buNone/>
            </a:pPr>
            <a:r>
              <a:rPr lang="es" u="sng">
                <a:solidFill>
                  <a:schemeClr val="dk1"/>
                </a:solidFill>
                <a:latin typeface="Calibri"/>
                <a:ea typeface="Calibri"/>
                <a:cs typeface="Calibri"/>
                <a:sym typeface="Calibri"/>
              </a:rPr>
              <a:t>Ejemplo</a:t>
            </a:r>
            <a:r>
              <a:rPr lang="es">
                <a:solidFill>
                  <a:schemeClr val="dk1"/>
                </a:solidFill>
                <a:latin typeface="Calibri"/>
                <a:ea typeface="Calibri"/>
                <a:cs typeface="Calibri"/>
                <a:sym typeface="Calibri"/>
              </a:rPr>
              <a:t>: Revisión bipartita + construcciones herméticas</a:t>
            </a:r>
            <a:endParaRPr>
              <a:solidFill>
                <a:schemeClr val="dk1"/>
              </a:solidFill>
              <a:latin typeface="Calibri"/>
              <a:ea typeface="Calibri"/>
              <a:cs typeface="Calibri"/>
              <a:sym typeface="Calibri"/>
            </a:endParaRPr>
          </a:p>
        </p:txBody>
      </p:sp>
      <p:sp>
        <p:nvSpPr>
          <p:cNvPr id="166" name="Google Shape;166;p23"/>
          <p:cNvSpPr txBox="1"/>
          <p:nvPr/>
        </p:nvSpPr>
        <p:spPr>
          <a:xfrm>
            <a:off x="7749000" y="4743300"/>
            <a:ext cx="162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rPr>
              <a:t>https://slsa.dev/</a:t>
            </a:r>
            <a:endParaRPr>
              <a:solidFill>
                <a:schemeClr val="dk1"/>
              </a:solidFill>
            </a:endParaRPr>
          </a:p>
        </p:txBody>
      </p:sp>
      <p:pic>
        <p:nvPicPr>
          <p:cNvPr id="167" name="Google Shape;167;p23"/>
          <p:cNvPicPr preferRelativeResize="0"/>
          <p:nvPr/>
        </p:nvPicPr>
        <p:blipFill>
          <a:blip r:embed="rId7">
            <a:alphaModFix/>
          </a:blip>
          <a:stretch>
            <a:fillRect/>
          </a:stretch>
        </p:blipFill>
        <p:spPr>
          <a:xfrm>
            <a:off x="8420975" y="0"/>
            <a:ext cx="723026" cy="723026"/>
          </a:xfrm>
          <a:prstGeom prst="rect">
            <a:avLst/>
          </a:prstGeom>
          <a:noFill/>
          <a:ln>
            <a:noFill/>
          </a:ln>
        </p:spPr>
      </p:pic>
      <p:sp>
        <p:nvSpPr>
          <p:cNvPr id="168" name="Google Shape;168;p23"/>
          <p:cNvSpPr txBox="1"/>
          <p:nvPr/>
        </p:nvSpPr>
        <p:spPr>
          <a:xfrm>
            <a:off x="720825" y="-43425"/>
            <a:ext cx="5259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Niveles de </a:t>
            </a:r>
            <a:r>
              <a:rPr lang="es" sz="2400">
                <a:solidFill>
                  <a:schemeClr val="dk1"/>
                </a:solidFill>
                <a:latin typeface="Calibri"/>
                <a:ea typeface="Calibri"/>
                <a:cs typeface="Calibri"/>
                <a:sym typeface="Calibri"/>
              </a:rPr>
              <a:t>implementación</a:t>
            </a:r>
            <a:r>
              <a:rPr lang="es" sz="2400">
                <a:solidFill>
                  <a:schemeClr val="dk1"/>
                </a:solidFill>
                <a:latin typeface="Calibri"/>
                <a:ea typeface="Calibri"/>
                <a:cs typeface="Calibri"/>
                <a:sym typeface="Calibri"/>
              </a:rPr>
              <a:t> de SLSA</a:t>
            </a:r>
            <a:endParaRPr/>
          </a:p>
        </p:txBody>
      </p:sp>
      <p:pic>
        <p:nvPicPr>
          <p:cNvPr id="169" name="Google Shape;169;p23"/>
          <p:cNvPicPr preferRelativeResize="0"/>
          <p:nvPr/>
        </p:nvPicPr>
        <p:blipFill>
          <a:blip r:embed="rId8">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nvSpPr>
        <p:spPr>
          <a:xfrm>
            <a:off x="1100600" y="575275"/>
            <a:ext cx="68871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s" sz="2400">
                <a:solidFill>
                  <a:schemeClr val="dk1"/>
                </a:solidFill>
                <a:latin typeface="Calibri"/>
                <a:ea typeface="Calibri"/>
                <a:cs typeface="Calibri"/>
                <a:sym typeface="Calibri"/>
              </a:rPr>
              <a:t>Cualquier software puede introducir vulnerabilidades en una cadena de suministro</a:t>
            </a:r>
            <a:endParaRPr sz="2400">
              <a:solidFill>
                <a:schemeClr val="dk1"/>
              </a:solidFill>
              <a:latin typeface="Calibri"/>
              <a:ea typeface="Calibri"/>
              <a:cs typeface="Calibri"/>
              <a:sym typeface="Calibri"/>
            </a:endParaRPr>
          </a:p>
        </p:txBody>
      </p:sp>
      <p:pic>
        <p:nvPicPr>
          <p:cNvPr id="175" name="Google Shape;175;p24"/>
          <p:cNvPicPr preferRelativeResize="0"/>
          <p:nvPr/>
        </p:nvPicPr>
        <p:blipFill>
          <a:blip r:embed="rId3">
            <a:alphaModFix/>
          </a:blip>
          <a:stretch>
            <a:fillRect/>
          </a:stretch>
        </p:blipFill>
        <p:spPr>
          <a:xfrm>
            <a:off x="810350" y="1685925"/>
            <a:ext cx="7467600" cy="2714625"/>
          </a:xfrm>
          <a:prstGeom prst="rect">
            <a:avLst/>
          </a:prstGeom>
          <a:noFill/>
          <a:ln>
            <a:noFill/>
          </a:ln>
        </p:spPr>
      </p:pic>
      <p:sp>
        <p:nvSpPr>
          <p:cNvPr id="176" name="Google Shape;176;p24"/>
          <p:cNvSpPr txBox="1"/>
          <p:nvPr/>
        </p:nvSpPr>
        <p:spPr>
          <a:xfrm>
            <a:off x="7749000" y="4743300"/>
            <a:ext cx="162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rPr>
              <a:t>https://slsa.dev/</a:t>
            </a:r>
            <a:endParaRPr>
              <a:solidFill>
                <a:schemeClr val="dk1"/>
              </a:solidFill>
            </a:endParaRPr>
          </a:p>
        </p:txBody>
      </p:sp>
      <p:pic>
        <p:nvPicPr>
          <p:cNvPr id="177" name="Google Shape;177;p24"/>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178" name="Google Shape;178;p24"/>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5"/>
          <p:cNvPicPr preferRelativeResize="0"/>
          <p:nvPr/>
        </p:nvPicPr>
        <p:blipFill>
          <a:blip r:embed="rId3">
            <a:alphaModFix/>
          </a:blip>
          <a:stretch>
            <a:fillRect/>
          </a:stretch>
        </p:blipFill>
        <p:spPr>
          <a:xfrm>
            <a:off x="2833825" y="1439575"/>
            <a:ext cx="3476375" cy="3476375"/>
          </a:xfrm>
          <a:prstGeom prst="rect">
            <a:avLst/>
          </a:prstGeom>
          <a:noFill/>
          <a:ln>
            <a:noFill/>
          </a:ln>
        </p:spPr>
      </p:pic>
      <p:sp>
        <p:nvSpPr>
          <p:cNvPr id="184" name="Google Shape;184;p25"/>
          <p:cNvSpPr txBox="1"/>
          <p:nvPr/>
        </p:nvSpPr>
        <p:spPr>
          <a:xfrm>
            <a:off x="856512" y="801300"/>
            <a:ext cx="7431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400">
                <a:solidFill>
                  <a:schemeClr val="dk1"/>
                </a:solidFill>
                <a:latin typeface="Calibri"/>
                <a:ea typeface="Calibri"/>
                <a:cs typeface="Calibri"/>
                <a:sym typeface="Calibri"/>
              </a:rPr>
              <a:t>¿Y entonces </a:t>
            </a:r>
            <a:r>
              <a:rPr lang="es" sz="2400">
                <a:solidFill>
                  <a:schemeClr val="dk1"/>
                </a:solidFill>
                <a:latin typeface="Calibri"/>
                <a:ea typeface="Calibri"/>
                <a:cs typeface="Calibri"/>
                <a:sym typeface="Calibri"/>
              </a:rPr>
              <a:t>qué</a:t>
            </a:r>
            <a:r>
              <a:rPr lang="es" sz="2400">
                <a:solidFill>
                  <a:schemeClr val="dk1"/>
                </a:solidFill>
                <a:latin typeface="Calibri"/>
                <a:ea typeface="Calibri"/>
                <a:cs typeface="Calibri"/>
                <a:sym typeface="Calibri"/>
              </a:rPr>
              <a:t> hacemos con tantos frentes de ataque?</a:t>
            </a:r>
            <a:endParaRPr sz="2400">
              <a:solidFill>
                <a:schemeClr val="dk1"/>
              </a:solidFill>
              <a:latin typeface="Calibri"/>
              <a:ea typeface="Calibri"/>
              <a:cs typeface="Calibri"/>
              <a:sym typeface="Calibri"/>
            </a:endParaRPr>
          </a:p>
        </p:txBody>
      </p:sp>
      <p:pic>
        <p:nvPicPr>
          <p:cNvPr id="185" name="Google Shape;185;p25"/>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186" name="Google Shape;186;p25"/>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nvSpPr>
        <p:spPr>
          <a:xfrm>
            <a:off x="1009625" y="697425"/>
            <a:ext cx="2939100" cy="1293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s" sz="2400">
                <a:solidFill>
                  <a:schemeClr val="dk1"/>
                </a:solidFill>
                <a:latin typeface="Calibri"/>
                <a:ea typeface="Calibri"/>
                <a:cs typeface="Calibri"/>
                <a:sym typeface="Calibri"/>
              </a:rPr>
              <a:t>Crear </a:t>
            </a:r>
            <a:r>
              <a:rPr lang="es" sz="2400">
                <a:solidFill>
                  <a:schemeClr val="dk1"/>
                </a:solidFill>
                <a:latin typeface="Calibri"/>
                <a:ea typeface="Calibri"/>
                <a:cs typeface="Calibri"/>
                <a:sym typeface="Calibri"/>
              </a:rPr>
              <a:t>políticas</a:t>
            </a:r>
            <a:r>
              <a:rPr lang="es" sz="2400">
                <a:solidFill>
                  <a:schemeClr val="dk1"/>
                </a:solidFill>
                <a:latin typeface="Calibri"/>
                <a:ea typeface="Calibri"/>
                <a:cs typeface="Calibri"/>
                <a:sym typeface="Calibri"/>
              </a:rPr>
              <a:t> y asegurar su cumplimiento</a:t>
            </a:r>
            <a:endParaRPr sz="2400">
              <a:solidFill>
                <a:schemeClr val="dk1"/>
              </a:solidFill>
              <a:latin typeface="Calibri"/>
              <a:ea typeface="Calibri"/>
              <a:cs typeface="Calibri"/>
              <a:sym typeface="Calibri"/>
            </a:endParaRPr>
          </a:p>
        </p:txBody>
      </p:sp>
      <p:sp>
        <p:nvSpPr>
          <p:cNvPr id="192" name="Google Shape;192;p26"/>
          <p:cNvSpPr txBox="1"/>
          <p:nvPr/>
        </p:nvSpPr>
        <p:spPr>
          <a:xfrm>
            <a:off x="6258488" y="805125"/>
            <a:ext cx="11373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2400">
                <a:solidFill>
                  <a:schemeClr val="dk1"/>
                </a:solidFill>
                <a:latin typeface="Calibri"/>
                <a:ea typeface="Calibri"/>
                <a:cs typeface="Calibri"/>
                <a:sym typeface="Calibri"/>
              </a:rPr>
              <a:t>Auditar</a:t>
            </a:r>
            <a:endParaRPr sz="2400">
              <a:solidFill>
                <a:schemeClr val="dk1"/>
              </a:solidFill>
              <a:latin typeface="Calibri"/>
              <a:ea typeface="Calibri"/>
              <a:cs typeface="Calibri"/>
              <a:sym typeface="Calibri"/>
            </a:endParaRPr>
          </a:p>
        </p:txBody>
      </p:sp>
      <p:pic>
        <p:nvPicPr>
          <p:cNvPr id="193" name="Google Shape;193;p26"/>
          <p:cNvPicPr preferRelativeResize="0"/>
          <p:nvPr/>
        </p:nvPicPr>
        <p:blipFill>
          <a:blip r:embed="rId3">
            <a:alphaModFix/>
          </a:blip>
          <a:stretch>
            <a:fillRect/>
          </a:stretch>
        </p:blipFill>
        <p:spPr>
          <a:xfrm>
            <a:off x="1009625" y="2040400"/>
            <a:ext cx="2939192" cy="2318900"/>
          </a:xfrm>
          <a:prstGeom prst="rect">
            <a:avLst/>
          </a:prstGeom>
          <a:noFill/>
          <a:ln>
            <a:noFill/>
          </a:ln>
        </p:spPr>
      </p:pic>
      <p:pic>
        <p:nvPicPr>
          <p:cNvPr id="194" name="Google Shape;194;p26"/>
          <p:cNvPicPr preferRelativeResize="0"/>
          <p:nvPr/>
        </p:nvPicPr>
        <p:blipFill>
          <a:blip r:embed="rId4">
            <a:alphaModFix/>
          </a:blip>
          <a:stretch>
            <a:fillRect/>
          </a:stretch>
        </p:blipFill>
        <p:spPr>
          <a:xfrm>
            <a:off x="5316525" y="2040400"/>
            <a:ext cx="3149276" cy="2318901"/>
          </a:xfrm>
          <a:prstGeom prst="rect">
            <a:avLst/>
          </a:prstGeom>
          <a:noFill/>
          <a:ln>
            <a:noFill/>
          </a:ln>
        </p:spPr>
      </p:pic>
      <p:pic>
        <p:nvPicPr>
          <p:cNvPr id="195" name="Google Shape;195;p26"/>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196" name="Google Shape;196;p26"/>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7"/>
          <p:cNvPicPr preferRelativeResize="0"/>
          <p:nvPr/>
        </p:nvPicPr>
        <p:blipFill>
          <a:blip r:embed="rId3">
            <a:alphaModFix/>
          </a:blip>
          <a:stretch>
            <a:fillRect/>
          </a:stretch>
        </p:blipFill>
        <p:spPr>
          <a:xfrm>
            <a:off x="152400" y="152400"/>
            <a:ext cx="3010350" cy="2092425"/>
          </a:xfrm>
          <a:prstGeom prst="rect">
            <a:avLst/>
          </a:prstGeom>
          <a:noFill/>
          <a:ln>
            <a:noFill/>
          </a:ln>
        </p:spPr>
      </p:pic>
      <p:sp>
        <p:nvSpPr>
          <p:cNvPr id="202" name="Google Shape;202;p27"/>
          <p:cNvSpPr txBox="1"/>
          <p:nvPr/>
        </p:nvSpPr>
        <p:spPr>
          <a:xfrm>
            <a:off x="4162500" y="550625"/>
            <a:ext cx="819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2400">
                <a:solidFill>
                  <a:schemeClr val="dk1"/>
                </a:solidFill>
                <a:latin typeface="Calibri"/>
                <a:ea typeface="Calibri"/>
                <a:cs typeface="Calibri"/>
                <a:sym typeface="Calibri"/>
              </a:rPr>
              <a:t>Kritis</a:t>
            </a:r>
            <a:endParaRPr sz="2400">
              <a:solidFill>
                <a:schemeClr val="dk1"/>
              </a:solidFill>
              <a:latin typeface="Calibri"/>
              <a:ea typeface="Calibri"/>
              <a:cs typeface="Calibri"/>
              <a:sym typeface="Calibri"/>
            </a:endParaRPr>
          </a:p>
        </p:txBody>
      </p:sp>
      <p:sp>
        <p:nvSpPr>
          <p:cNvPr id="203" name="Google Shape;203;p27"/>
          <p:cNvSpPr txBox="1"/>
          <p:nvPr/>
        </p:nvSpPr>
        <p:spPr>
          <a:xfrm>
            <a:off x="6158225" y="1104725"/>
            <a:ext cx="1983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s" sz="1800">
                <a:solidFill>
                  <a:schemeClr val="dk1"/>
                </a:solidFill>
              </a:rPr>
              <a:t>("juez" en griego)</a:t>
            </a:r>
            <a:endParaRPr i="1" sz="1800">
              <a:solidFill>
                <a:schemeClr val="dk1"/>
              </a:solidFill>
            </a:endParaRPr>
          </a:p>
        </p:txBody>
      </p:sp>
      <p:sp>
        <p:nvSpPr>
          <p:cNvPr id="204" name="Google Shape;204;p27"/>
          <p:cNvSpPr txBox="1"/>
          <p:nvPr/>
        </p:nvSpPr>
        <p:spPr>
          <a:xfrm>
            <a:off x="2693225" y="2022300"/>
            <a:ext cx="5448600" cy="120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000">
                <a:solidFill>
                  <a:schemeClr val="dk1"/>
                </a:solidFill>
                <a:latin typeface="Calibri"/>
                <a:ea typeface="Calibri"/>
                <a:cs typeface="Calibri"/>
                <a:sym typeface="Calibri"/>
              </a:rPr>
              <a:t>Solución de código abierto para proteger su cadena de suministro de software para aplicaciones de Kubernetes</a:t>
            </a:r>
            <a:endParaRPr sz="2000">
              <a:solidFill>
                <a:schemeClr val="dk1"/>
              </a:solidFill>
              <a:latin typeface="Calibri"/>
              <a:ea typeface="Calibri"/>
              <a:cs typeface="Calibri"/>
              <a:sym typeface="Calibri"/>
            </a:endParaRPr>
          </a:p>
        </p:txBody>
      </p:sp>
      <p:sp>
        <p:nvSpPr>
          <p:cNvPr id="205" name="Google Shape;205;p27"/>
          <p:cNvSpPr txBox="1"/>
          <p:nvPr/>
        </p:nvSpPr>
        <p:spPr>
          <a:xfrm>
            <a:off x="1372750" y="3445388"/>
            <a:ext cx="62007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800">
                <a:solidFill>
                  <a:schemeClr val="dk1"/>
                </a:solidFill>
                <a:latin typeface="Calibri"/>
                <a:ea typeface="Calibri"/>
                <a:cs typeface="Calibri"/>
                <a:sym typeface="Calibri"/>
              </a:rPr>
              <a:t>Kritis en sí no almacena información de vulnerabilidad. Simplemente hace la verificación de políticas.</a:t>
            </a:r>
            <a:endParaRPr sz="1800">
              <a:solidFill>
                <a:schemeClr val="dk1"/>
              </a:solidFill>
              <a:latin typeface="Calibri"/>
              <a:ea typeface="Calibri"/>
              <a:cs typeface="Calibri"/>
              <a:sym typeface="Calibri"/>
            </a:endParaRPr>
          </a:p>
        </p:txBody>
      </p:sp>
      <p:sp>
        <p:nvSpPr>
          <p:cNvPr id="206" name="Google Shape;206;p27"/>
          <p:cNvSpPr txBox="1"/>
          <p:nvPr/>
        </p:nvSpPr>
        <p:spPr>
          <a:xfrm>
            <a:off x="6476150" y="474330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a:solidFill>
                  <a:schemeClr val="dk1"/>
                </a:solidFill>
              </a:rPr>
              <a:t>https://github.com/grafeas/kritis</a:t>
            </a:r>
            <a:endParaRPr>
              <a:solidFill>
                <a:schemeClr val="dk1"/>
              </a:solidFill>
            </a:endParaRPr>
          </a:p>
        </p:txBody>
      </p:sp>
      <p:pic>
        <p:nvPicPr>
          <p:cNvPr id="207" name="Google Shape;207;p27"/>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208" name="Google Shape;208;p27"/>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nvSpPr>
        <p:spPr>
          <a:xfrm>
            <a:off x="4478525" y="610175"/>
            <a:ext cx="4539300" cy="438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000">
                <a:solidFill>
                  <a:schemeClr val="dk1"/>
                </a:solidFill>
                <a:latin typeface="Calibri"/>
                <a:ea typeface="Calibri"/>
                <a:cs typeface="Calibri"/>
                <a:sym typeface="Calibri"/>
              </a:rPr>
              <a:t>Kritis h</a:t>
            </a:r>
            <a:r>
              <a:rPr lang="es" sz="2000">
                <a:solidFill>
                  <a:schemeClr val="dk1"/>
                </a:solidFill>
                <a:latin typeface="Calibri"/>
                <a:ea typeface="Calibri"/>
                <a:cs typeface="Calibri"/>
                <a:sym typeface="Calibri"/>
              </a:rPr>
              <a:t>ablará con la API de metadatos de Grafeas para averiguar realmente, la siguiente informacion sobre una imagen de contenedor generada:</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s" sz="2000">
                <a:solidFill>
                  <a:schemeClr val="dk1"/>
                </a:solidFill>
                <a:latin typeface="Calibri"/>
                <a:ea typeface="Calibri"/>
                <a:cs typeface="Calibri"/>
                <a:sym typeface="Calibri"/>
              </a:rPr>
              <a:t>¿</a:t>
            </a:r>
            <a:r>
              <a:rPr lang="es" sz="2000">
                <a:solidFill>
                  <a:schemeClr val="dk1"/>
                </a:solidFill>
                <a:latin typeface="Calibri"/>
                <a:ea typeface="Calibri"/>
                <a:cs typeface="Calibri"/>
                <a:sym typeface="Calibri"/>
              </a:rPr>
              <a:t>Qué</a:t>
            </a:r>
            <a:r>
              <a:rPr lang="es" sz="2000">
                <a:solidFill>
                  <a:schemeClr val="dk1"/>
                </a:solidFill>
                <a:latin typeface="Calibri"/>
                <a:ea typeface="Calibri"/>
                <a:cs typeface="Calibri"/>
                <a:sym typeface="Calibri"/>
              </a:rPr>
              <a:t> vulnerabilidades se encuentran allí?</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s" sz="2000">
                <a:solidFill>
                  <a:schemeClr val="dk1"/>
                </a:solidFill>
                <a:latin typeface="Calibri"/>
                <a:ea typeface="Calibri"/>
                <a:cs typeface="Calibri"/>
                <a:sym typeface="Calibri"/>
              </a:rPr>
              <a:t>¿Qué gravedad tiene?</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s" sz="2000">
                <a:solidFill>
                  <a:schemeClr val="dk1"/>
                </a:solidFill>
                <a:latin typeface="Calibri"/>
                <a:ea typeface="Calibri"/>
                <a:cs typeface="Calibri"/>
                <a:sym typeface="Calibri"/>
              </a:rPr>
              <a:t>Dado este contenedor, ¿de dónde vino? </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s" sz="2000">
                <a:solidFill>
                  <a:schemeClr val="dk1"/>
                </a:solidFill>
                <a:latin typeface="Calibri"/>
                <a:ea typeface="Calibri"/>
                <a:cs typeface="Calibri"/>
                <a:sym typeface="Calibri"/>
              </a:rPr>
              <a:t>¿Confiamos en ello?</a:t>
            </a:r>
            <a:endParaRPr sz="2000">
              <a:solidFill>
                <a:schemeClr val="dk1"/>
              </a:solidFill>
              <a:latin typeface="Calibri"/>
              <a:ea typeface="Calibri"/>
              <a:cs typeface="Calibri"/>
              <a:sym typeface="Calibri"/>
            </a:endParaRPr>
          </a:p>
        </p:txBody>
      </p:sp>
      <p:pic>
        <p:nvPicPr>
          <p:cNvPr id="214" name="Google Shape;214;p28"/>
          <p:cNvPicPr preferRelativeResize="0"/>
          <p:nvPr/>
        </p:nvPicPr>
        <p:blipFill rotWithShape="1">
          <a:blip r:embed="rId3">
            <a:alphaModFix/>
          </a:blip>
          <a:srcRect b="0" l="0" r="40051" t="0"/>
          <a:stretch/>
        </p:blipFill>
        <p:spPr>
          <a:xfrm>
            <a:off x="206875" y="610163"/>
            <a:ext cx="4187325" cy="3923175"/>
          </a:xfrm>
          <a:prstGeom prst="rect">
            <a:avLst/>
          </a:prstGeom>
          <a:noFill/>
          <a:ln>
            <a:noFill/>
          </a:ln>
        </p:spPr>
      </p:pic>
      <p:pic>
        <p:nvPicPr>
          <p:cNvPr id="215" name="Google Shape;215;p28"/>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216" name="Google Shape;216;p28"/>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9"/>
          <p:cNvSpPr txBox="1"/>
          <p:nvPr/>
        </p:nvSpPr>
        <p:spPr>
          <a:xfrm>
            <a:off x="914375" y="3885475"/>
            <a:ext cx="7315200" cy="97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s" sz="2400">
                <a:solidFill>
                  <a:schemeClr val="dk1"/>
                </a:solidFill>
                <a:latin typeface="Calibri"/>
                <a:ea typeface="Calibri"/>
                <a:cs typeface="Calibri"/>
                <a:sym typeface="Calibri"/>
              </a:rPr>
              <a:t>En el pipeline de desarrollo de software, la validación de la imagen se realiza antes de la implementación</a:t>
            </a:r>
            <a:endParaRPr sz="2400">
              <a:solidFill>
                <a:schemeClr val="dk1"/>
              </a:solidFill>
              <a:latin typeface="Calibri"/>
              <a:ea typeface="Calibri"/>
              <a:cs typeface="Calibri"/>
              <a:sym typeface="Calibri"/>
            </a:endParaRPr>
          </a:p>
        </p:txBody>
      </p:sp>
      <p:pic>
        <p:nvPicPr>
          <p:cNvPr id="222" name="Google Shape;222;p29"/>
          <p:cNvPicPr preferRelativeResize="0"/>
          <p:nvPr/>
        </p:nvPicPr>
        <p:blipFill>
          <a:blip r:embed="rId3">
            <a:alphaModFix/>
          </a:blip>
          <a:stretch>
            <a:fillRect/>
          </a:stretch>
        </p:blipFill>
        <p:spPr>
          <a:xfrm>
            <a:off x="914400" y="661450"/>
            <a:ext cx="7315200" cy="3295650"/>
          </a:xfrm>
          <a:prstGeom prst="rect">
            <a:avLst/>
          </a:prstGeom>
          <a:noFill/>
          <a:ln>
            <a:noFill/>
          </a:ln>
        </p:spPr>
      </p:pic>
      <p:pic>
        <p:nvPicPr>
          <p:cNvPr id="223" name="Google Shape;223;p29"/>
          <p:cNvPicPr preferRelativeResize="0"/>
          <p:nvPr/>
        </p:nvPicPr>
        <p:blipFill>
          <a:blip r:embed="rId4">
            <a:alphaModFix/>
          </a:blip>
          <a:stretch>
            <a:fillRect/>
          </a:stretch>
        </p:blipFill>
        <p:spPr>
          <a:xfrm>
            <a:off x="8420975" y="0"/>
            <a:ext cx="723026" cy="723026"/>
          </a:xfrm>
          <a:prstGeom prst="rect">
            <a:avLst/>
          </a:prstGeom>
          <a:noFill/>
          <a:ln>
            <a:noFill/>
          </a:ln>
        </p:spPr>
      </p:pic>
      <p:cxnSp>
        <p:nvCxnSpPr>
          <p:cNvPr id="224" name="Google Shape;224;p29"/>
          <p:cNvCxnSpPr/>
          <p:nvPr/>
        </p:nvCxnSpPr>
        <p:spPr>
          <a:xfrm>
            <a:off x="6840625" y="1561125"/>
            <a:ext cx="451800" cy="1284300"/>
          </a:xfrm>
          <a:prstGeom prst="straightConnector1">
            <a:avLst/>
          </a:prstGeom>
          <a:noFill/>
          <a:ln cap="flat" cmpd="sng" w="9525">
            <a:solidFill>
              <a:srgbClr val="4A86E8"/>
            </a:solidFill>
            <a:prstDash val="solid"/>
            <a:round/>
            <a:headEnd len="med" w="med" type="stealth"/>
            <a:tailEnd len="med" w="med" type="none"/>
          </a:ln>
        </p:spPr>
      </p:cxnSp>
      <p:pic>
        <p:nvPicPr>
          <p:cNvPr id="225" name="Google Shape;225;p29"/>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txBox="1"/>
          <p:nvPr/>
        </p:nvSpPr>
        <p:spPr>
          <a:xfrm>
            <a:off x="794400" y="276250"/>
            <a:ext cx="7555200" cy="808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2400">
                <a:solidFill>
                  <a:schemeClr val="dk1"/>
                </a:solidFill>
                <a:latin typeface="Calibri"/>
                <a:ea typeface="Calibri"/>
                <a:cs typeface="Calibri"/>
                <a:sym typeface="Calibri"/>
              </a:rPr>
              <a:t>Kritis</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 sz="2400">
                <a:solidFill>
                  <a:schemeClr val="dk1"/>
                </a:solidFill>
                <a:latin typeface="Calibri"/>
                <a:ea typeface="Calibri"/>
                <a:cs typeface="Calibri"/>
                <a:sym typeface="Calibri"/>
              </a:rPr>
              <a:t>Deployment Authorization for Kubernetes Applications</a:t>
            </a:r>
            <a:endParaRPr sz="2400">
              <a:solidFill>
                <a:schemeClr val="dk1"/>
              </a:solidFill>
              <a:latin typeface="Calibri"/>
              <a:ea typeface="Calibri"/>
              <a:cs typeface="Calibri"/>
              <a:sym typeface="Calibri"/>
            </a:endParaRPr>
          </a:p>
        </p:txBody>
      </p:sp>
      <p:sp>
        <p:nvSpPr>
          <p:cNvPr id="231" name="Google Shape;231;p30"/>
          <p:cNvSpPr txBox="1"/>
          <p:nvPr/>
        </p:nvSpPr>
        <p:spPr>
          <a:xfrm>
            <a:off x="5025499" y="1781375"/>
            <a:ext cx="3698100" cy="2224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000">
                <a:solidFill>
                  <a:schemeClr val="dk1"/>
                </a:solidFill>
                <a:latin typeface="Calibri"/>
                <a:ea typeface="Calibri"/>
                <a:cs typeface="Calibri"/>
                <a:sym typeface="Calibri"/>
              </a:rPr>
              <a:t>En una versión inicial, permitimos a los clientes proteger su cadena de suministro para las aplicaciones de Kubernetes mediante una tecnología de cumplimiento basada en atestación.</a:t>
            </a:r>
            <a:endParaRPr sz="2000">
              <a:solidFill>
                <a:schemeClr val="dk1"/>
              </a:solidFill>
              <a:latin typeface="Calibri"/>
              <a:ea typeface="Calibri"/>
              <a:cs typeface="Calibri"/>
              <a:sym typeface="Calibri"/>
            </a:endParaRPr>
          </a:p>
        </p:txBody>
      </p:sp>
      <p:sp>
        <p:nvSpPr>
          <p:cNvPr id="232" name="Google Shape;232;p30"/>
          <p:cNvSpPr txBox="1"/>
          <p:nvPr/>
        </p:nvSpPr>
        <p:spPr>
          <a:xfrm>
            <a:off x="2944906" y="2723422"/>
            <a:ext cx="151951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 sz="1400">
                <a:solidFill>
                  <a:srgbClr val="212529"/>
                </a:solidFill>
                <a:latin typeface="Lato"/>
                <a:ea typeface="Lato"/>
                <a:cs typeface="Lato"/>
                <a:sym typeface="Lato"/>
              </a:rPr>
              <a:t>‘Atestiguar [algo]’</a:t>
            </a:r>
            <a:endParaRPr sz="1400">
              <a:solidFill>
                <a:schemeClr val="dk1"/>
              </a:solidFill>
              <a:latin typeface="Calibri"/>
              <a:ea typeface="Calibri"/>
              <a:cs typeface="Calibri"/>
              <a:sym typeface="Calibri"/>
            </a:endParaRPr>
          </a:p>
        </p:txBody>
      </p:sp>
      <p:sp>
        <p:nvSpPr>
          <p:cNvPr id="233" name="Google Shape;233;p30"/>
          <p:cNvSpPr txBox="1"/>
          <p:nvPr/>
        </p:nvSpPr>
        <p:spPr>
          <a:xfrm>
            <a:off x="2998696" y="2449392"/>
            <a:ext cx="1089212"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 sz="1400">
                <a:solidFill>
                  <a:srgbClr val="212529"/>
                </a:solidFill>
                <a:latin typeface="Lato"/>
                <a:ea typeface="Lato"/>
                <a:cs typeface="Lato"/>
                <a:sym typeface="Lato"/>
              </a:rPr>
              <a:t>atestar(se)</a:t>
            </a:r>
            <a:endParaRPr sz="1400">
              <a:solidFill>
                <a:schemeClr val="dk1"/>
              </a:solidFill>
              <a:latin typeface="Calibri"/>
              <a:ea typeface="Calibri"/>
              <a:cs typeface="Calibri"/>
              <a:sym typeface="Calibri"/>
            </a:endParaRPr>
          </a:p>
        </p:txBody>
      </p:sp>
      <p:sp>
        <p:nvSpPr>
          <p:cNvPr id="234" name="Google Shape;234;p30"/>
          <p:cNvSpPr txBox="1"/>
          <p:nvPr/>
        </p:nvSpPr>
        <p:spPr>
          <a:xfrm>
            <a:off x="4894730" y="4947292"/>
            <a:ext cx="4572000" cy="19620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https://github.com/kelseyhightower/Grafeas/blob/master/case-studies/binary-authorization.md</a:t>
            </a:r>
            <a:endParaRPr sz="1100"/>
          </a:p>
        </p:txBody>
      </p:sp>
      <p:pic>
        <p:nvPicPr>
          <p:cNvPr id="235" name="Google Shape;235;p30"/>
          <p:cNvPicPr preferRelativeResize="0"/>
          <p:nvPr/>
        </p:nvPicPr>
        <p:blipFill rotWithShape="1">
          <a:blip r:embed="rId3">
            <a:alphaModFix/>
          </a:blip>
          <a:srcRect b="7595" l="0" r="0" t="0"/>
          <a:stretch/>
        </p:blipFill>
        <p:spPr>
          <a:xfrm>
            <a:off x="389650" y="1435001"/>
            <a:ext cx="4419600" cy="2916950"/>
          </a:xfrm>
          <a:prstGeom prst="rect">
            <a:avLst/>
          </a:prstGeom>
          <a:noFill/>
          <a:ln>
            <a:noFill/>
          </a:ln>
        </p:spPr>
      </p:pic>
      <p:pic>
        <p:nvPicPr>
          <p:cNvPr id="236" name="Google Shape;236;p30"/>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237" name="Google Shape;237;p30"/>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nvSpPr>
        <p:spPr>
          <a:xfrm>
            <a:off x="2946150" y="380275"/>
            <a:ext cx="325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Atestación</a:t>
            </a:r>
            <a:r>
              <a:rPr lang="es" sz="2400">
                <a:solidFill>
                  <a:schemeClr val="dk1"/>
                </a:solidFill>
                <a:latin typeface="Calibri"/>
                <a:ea typeface="Calibri"/>
                <a:cs typeface="Calibri"/>
                <a:sym typeface="Calibri"/>
              </a:rPr>
              <a:t> // Attestation</a:t>
            </a:r>
            <a:endParaRPr sz="2400">
              <a:solidFill>
                <a:schemeClr val="dk1"/>
              </a:solidFill>
              <a:latin typeface="Calibri"/>
              <a:ea typeface="Calibri"/>
              <a:cs typeface="Calibri"/>
              <a:sym typeface="Calibri"/>
            </a:endParaRPr>
          </a:p>
        </p:txBody>
      </p:sp>
      <p:sp>
        <p:nvSpPr>
          <p:cNvPr id="243" name="Google Shape;243;p31"/>
          <p:cNvSpPr txBox="1"/>
          <p:nvPr/>
        </p:nvSpPr>
        <p:spPr>
          <a:xfrm>
            <a:off x="4914675" y="1215725"/>
            <a:ext cx="39120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Calibri"/>
                <a:ea typeface="Calibri"/>
                <a:cs typeface="Calibri"/>
                <a:sym typeface="Calibri"/>
              </a:rPr>
              <a:t>Una atestación de software es una declaración autenticada (metadatos) sobre un artefacto de software o una colección de artefactos de software.</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es" sz="2000">
                <a:solidFill>
                  <a:schemeClr val="dk1"/>
                </a:solidFill>
                <a:latin typeface="Calibri"/>
                <a:ea typeface="Calibri"/>
                <a:cs typeface="Calibri"/>
                <a:sym typeface="Calibri"/>
              </a:rPr>
              <a:t>El caso de uso principal previsto es alimentar motores de políticas automatizados.</a:t>
            </a:r>
            <a:endParaRPr sz="2000">
              <a:solidFill>
                <a:schemeClr val="dk1"/>
              </a:solidFill>
              <a:latin typeface="Calibri"/>
              <a:ea typeface="Calibri"/>
              <a:cs typeface="Calibri"/>
              <a:sym typeface="Calibri"/>
            </a:endParaRPr>
          </a:p>
        </p:txBody>
      </p:sp>
      <p:pic>
        <p:nvPicPr>
          <p:cNvPr id="244" name="Google Shape;244;p31"/>
          <p:cNvPicPr preferRelativeResize="0"/>
          <p:nvPr/>
        </p:nvPicPr>
        <p:blipFill rotWithShape="1">
          <a:blip r:embed="rId3">
            <a:alphaModFix/>
          </a:blip>
          <a:srcRect b="7595" l="0" r="0" t="0"/>
          <a:stretch/>
        </p:blipFill>
        <p:spPr>
          <a:xfrm>
            <a:off x="272275" y="1234901"/>
            <a:ext cx="4419600" cy="2916950"/>
          </a:xfrm>
          <a:prstGeom prst="rect">
            <a:avLst/>
          </a:prstGeom>
          <a:noFill/>
          <a:ln>
            <a:noFill/>
          </a:ln>
        </p:spPr>
      </p:pic>
      <p:pic>
        <p:nvPicPr>
          <p:cNvPr id="245" name="Google Shape;245;p31"/>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246" name="Google Shape;246;p31"/>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nvSpPr>
        <p:spPr>
          <a:xfrm>
            <a:off x="3734250" y="284425"/>
            <a:ext cx="16755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400">
                <a:solidFill>
                  <a:schemeClr val="dk1"/>
                </a:solidFill>
                <a:latin typeface="Calibri"/>
                <a:ea typeface="Calibri"/>
                <a:cs typeface="Calibri"/>
                <a:sym typeface="Calibri"/>
              </a:rPr>
              <a:t>Kritis Signer</a:t>
            </a:r>
            <a:endParaRPr sz="1100"/>
          </a:p>
        </p:txBody>
      </p:sp>
      <p:sp>
        <p:nvSpPr>
          <p:cNvPr id="252" name="Google Shape;252;p32"/>
          <p:cNvSpPr txBox="1"/>
          <p:nvPr/>
        </p:nvSpPr>
        <p:spPr>
          <a:xfrm>
            <a:off x="3945030" y="1271450"/>
            <a:ext cx="4791600" cy="191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000">
                <a:solidFill>
                  <a:schemeClr val="dk1"/>
                </a:solidFill>
                <a:latin typeface="Calibri"/>
                <a:ea typeface="Calibri"/>
                <a:cs typeface="Calibri"/>
                <a:sym typeface="Calibri"/>
              </a:rPr>
              <a:t>Kritis Signer es una herramienta de línea de comandos que crea certificaciones para una imagen de contenedor. Estas certificaciones se pueden usar para la aplicación de la autorización binaria y Kritis cuando intenta implementar la imagen del contenedor.</a:t>
            </a:r>
            <a:endParaRPr sz="2000">
              <a:solidFill>
                <a:schemeClr val="dk1"/>
              </a:solidFill>
              <a:latin typeface="Calibri"/>
              <a:ea typeface="Calibri"/>
              <a:cs typeface="Calibri"/>
              <a:sym typeface="Calibri"/>
            </a:endParaRPr>
          </a:p>
        </p:txBody>
      </p:sp>
      <p:sp>
        <p:nvSpPr>
          <p:cNvPr id="253" name="Google Shape;253;p32"/>
          <p:cNvSpPr txBox="1"/>
          <p:nvPr/>
        </p:nvSpPr>
        <p:spPr>
          <a:xfrm>
            <a:off x="296850" y="3470725"/>
            <a:ext cx="84399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000">
                <a:solidFill>
                  <a:schemeClr val="dk1"/>
                </a:solidFill>
                <a:latin typeface="Calibri"/>
                <a:ea typeface="Calibri"/>
                <a:cs typeface="Calibri"/>
                <a:sym typeface="Calibri"/>
              </a:rPr>
              <a:t>Kritis Signer puede crear certificaciones basadas en vulnerabilidades de software identificadas en las imágenes de su contenedor.</a:t>
            </a:r>
            <a:endParaRPr sz="2000">
              <a:solidFill>
                <a:schemeClr val="dk1"/>
              </a:solidFill>
              <a:latin typeface="Calibri"/>
              <a:ea typeface="Calibri"/>
              <a:cs typeface="Calibri"/>
              <a:sym typeface="Calibri"/>
            </a:endParaRPr>
          </a:p>
        </p:txBody>
      </p:sp>
      <p:sp>
        <p:nvSpPr>
          <p:cNvPr id="254" name="Google Shape;254;p32"/>
          <p:cNvSpPr txBox="1"/>
          <p:nvPr/>
        </p:nvSpPr>
        <p:spPr>
          <a:xfrm>
            <a:off x="6373907" y="4947292"/>
            <a:ext cx="2891117" cy="19620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https://github.com/grafeas/kritis/blob/master/docs/signer.md</a:t>
            </a:r>
            <a:endParaRPr sz="1100"/>
          </a:p>
        </p:txBody>
      </p:sp>
      <p:pic>
        <p:nvPicPr>
          <p:cNvPr id="255" name="Google Shape;255;p32"/>
          <p:cNvPicPr preferRelativeResize="0"/>
          <p:nvPr/>
        </p:nvPicPr>
        <p:blipFill>
          <a:blip r:embed="rId3">
            <a:alphaModFix/>
          </a:blip>
          <a:stretch>
            <a:fillRect/>
          </a:stretch>
        </p:blipFill>
        <p:spPr>
          <a:xfrm>
            <a:off x="296838" y="1271450"/>
            <a:ext cx="3513417" cy="2108051"/>
          </a:xfrm>
          <a:prstGeom prst="rect">
            <a:avLst/>
          </a:prstGeom>
          <a:noFill/>
          <a:ln>
            <a:noFill/>
          </a:ln>
        </p:spPr>
      </p:pic>
      <p:pic>
        <p:nvPicPr>
          <p:cNvPr id="256" name="Google Shape;256;p32"/>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257" name="Google Shape;257;p32"/>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nvSpPr>
        <p:spPr>
          <a:xfrm>
            <a:off x="4833525" y="650250"/>
            <a:ext cx="3481200" cy="136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100">
                <a:solidFill>
                  <a:schemeClr val="dk1"/>
                </a:solidFill>
                <a:latin typeface="Calibri"/>
                <a:ea typeface="Calibri"/>
                <a:cs typeface="Calibri"/>
                <a:sym typeface="Calibri"/>
              </a:rPr>
              <a:t>Se </a:t>
            </a:r>
            <a:r>
              <a:rPr lang="es" sz="2100">
                <a:solidFill>
                  <a:schemeClr val="dk1"/>
                </a:solidFill>
                <a:latin typeface="Calibri"/>
                <a:ea typeface="Calibri"/>
                <a:cs typeface="Calibri"/>
                <a:sym typeface="Calibri"/>
              </a:rPr>
              <a:t>realiza un escaneo de vulnerabilidades y produce un resultado de vulnerabilidad para la imagen. </a:t>
            </a:r>
            <a:endParaRPr sz="2100">
              <a:solidFill>
                <a:schemeClr val="dk1"/>
              </a:solidFill>
              <a:latin typeface="Calibri"/>
              <a:ea typeface="Calibri"/>
              <a:cs typeface="Calibri"/>
              <a:sym typeface="Calibri"/>
            </a:endParaRPr>
          </a:p>
        </p:txBody>
      </p:sp>
      <p:sp>
        <p:nvSpPr>
          <p:cNvPr id="263" name="Google Shape;263;p33"/>
          <p:cNvSpPr txBox="1"/>
          <p:nvPr/>
        </p:nvSpPr>
        <p:spPr>
          <a:xfrm>
            <a:off x="1362275" y="3009713"/>
            <a:ext cx="3007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latin typeface="Calibri"/>
                <a:ea typeface="Calibri"/>
                <a:cs typeface="Calibri"/>
                <a:sym typeface="Calibri"/>
              </a:rPr>
              <a:t>Luego, Kritis Signer compara el resultado de la vulnerabilidad con su política de vulnerabilidad. </a:t>
            </a:r>
            <a:endParaRPr sz="2100">
              <a:solidFill>
                <a:schemeClr val="dk1"/>
              </a:solidFill>
              <a:latin typeface="Calibri"/>
              <a:ea typeface="Calibri"/>
              <a:cs typeface="Calibri"/>
              <a:sym typeface="Calibri"/>
            </a:endParaRPr>
          </a:p>
        </p:txBody>
      </p:sp>
      <p:pic>
        <p:nvPicPr>
          <p:cNvPr id="264" name="Google Shape;264;p33"/>
          <p:cNvPicPr preferRelativeResize="0"/>
          <p:nvPr/>
        </p:nvPicPr>
        <p:blipFill rotWithShape="1">
          <a:blip r:embed="rId3">
            <a:alphaModFix/>
          </a:blip>
          <a:srcRect b="11672" l="8886" r="10253" t="9674"/>
          <a:stretch/>
        </p:blipFill>
        <p:spPr>
          <a:xfrm>
            <a:off x="5525075" y="2492638"/>
            <a:ext cx="2201075" cy="2511625"/>
          </a:xfrm>
          <a:prstGeom prst="rect">
            <a:avLst/>
          </a:prstGeom>
          <a:noFill/>
          <a:ln>
            <a:noFill/>
          </a:ln>
        </p:spPr>
      </p:pic>
      <p:pic>
        <p:nvPicPr>
          <p:cNvPr id="265" name="Google Shape;265;p33"/>
          <p:cNvPicPr preferRelativeResize="0"/>
          <p:nvPr/>
        </p:nvPicPr>
        <p:blipFill>
          <a:blip r:embed="rId4">
            <a:alphaModFix/>
          </a:blip>
          <a:stretch>
            <a:fillRect/>
          </a:stretch>
        </p:blipFill>
        <p:spPr>
          <a:xfrm>
            <a:off x="1454300" y="247025"/>
            <a:ext cx="3117703" cy="2063175"/>
          </a:xfrm>
          <a:prstGeom prst="rect">
            <a:avLst/>
          </a:prstGeom>
          <a:noFill/>
          <a:ln>
            <a:noFill/>
          </a:ln>
        </p:spPr>
      </p:pic>
      <p:pic>
        <p:nvPicPr>
          <p:cNvPr id="266" name="Google Shape;266;p33"/>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267" name="Google Shape;267;p33"/>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txBox="1"/>
          <p:nvPr/>
        </p:nvSpPr>
        <p:spPr>
          <a:xfrm>
            <a:off x="1750950" y="664075"/>
            <a:ext cx="56421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latin typeface="Calibri"/>
                <a:ea typeface="Calibri"/>
                <a:cs typeface="Calibri"/>
                <a:sym typeface="Calibri"/>
              </a:rPr>
              <a:t>Si el resultado de la vulnerabilidad cumple con su política, Kritis Signer crea la certificación y la almacena en el almacén de datos</a:t>
            </a:r>
            <a:endParaRPr sz="2100">
              <a:solidFill>
                <a:schemeClr val="dk1"/>
              </a:solidFill>
              <a:latin typeface="Calibri"/>
              <a:ea typeface="Calibri"/>
              <a:cs typeface="Calibri"/>
              <a:sym typeface="Calibri"/>
            </a:endParaRPr>
          </a:p>
        </p:txBody>
      </p:sp>
      <p:pic>
        <p:nvPicPr>
          <p:cNvPr id="273" name="Google Shape;273;p34"/>
          <p:cNvPicPr preferRelativeResize="0"/>
          <p:nvPr/>
        </p:nvPicPr>
        <p:blipFill rotWithShape="1">
          <a:blip r:embed="rId3">
            <a:alphaModFix/>
          </a:blip>
          <a:srcRect b="15974" l="9991" r="0" t="15349"/>
          <a:stretch/>
        </p:blipFill>
        <p:spPr>
          <a:xfrm>
            <a:off x="2757613" y="2265800"/>
            <a:ext cx="3628775" cy="2768724"/>
          </a:xfrm>
          <a:prstGeom prst="rect">
            <a:avLst/>
          </a:prstGeom>
          <a:noFill/>
          <a:ln>
            <a:noFill/>
          </a:ln>
        </p:spPr>
      </p:pic>
      <p:pic>
        <p:nvPicPr>
          <p:cNvPr id="274" name="Google Shape;274;p34"/>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275" name="Google Shape;275;p34"/>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nvSpPr>
        <p:spPr>
          <a:xfrm>
            <a:off x="749125" y="674075"/>
            <a:ext cx="7236000" cy="1038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100">
                <a:solidFill>
                  <a:schemeClr val="dk1"/>
                </a:solidFill>
                <a:latin typeface="Calibri"/>
                <a:ea typeface="Calibri"/>
                <a:cs typeface="Calibri"/>
                <a:sym typeface="Calibri"/>
              </a:rPr>
              <a:t>E</a:t>
            </a:r>
            <a:r>
              <a:rPr lang="es" sz="2100">
                <a:solidFill>
                  <a:schemeClr val="dk1"/>
                </a:solidFill>
                <a:latin typeface="Calibri"/>
                <a:ea typeface="Calibri"/>
                <a:cs typeface="Calibri"/>
                <a:sym typeface="Calibri"/>
              </a:rPr>
              <a:t>jemplo de política de Kritis, para evitar la implementación de Pod con una vulnerabilidad crítica a menos que se haya incluido en la lista de permitidos:</a:t>
            </a:r>
            <a:endParaRPr sz="2100">
              <a:solidFill>
                <a:schemeClr val="dk1"/>
              </a:solidFill>
              <a:latin typeface="Calibri"/>
              <a:ea typeface="Calibri"/>
              <a:cs typeface="Calibri"/>
              <a:sym typeface="Calibri"/>
            </a:endParaRPr>
          </a:p>
        </p:txBody>
      </p:sp>
      <p:sp>
        <p:nvSpPr>
          <p:cNvPr id="281" name="Google Shape;281;p35"/>
          <p:cNvSpPr txBox="1"/>
          <p:nvPr/>
        </p:nvSpPr>
        <p:spPr>
          <a:xfrm>
            <a:off x="7523630" y="4934404"/>
            <a:ext cx="1680882" cy="20909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https://github.com/grafeas/kritis</a:t>
            </a:r>
            <a:endParaRPr sz="1100"/>
          </a:p>
        </p:txBody>
      </p:sp>
      <p:pic>
        <p:nvPicPr>
          <p:cNvPr id="282" name="Google Shape;282;p35"/>
          <p:cNvPicPr preferRelativeResize="0"/>
          <p:nvPr/>
        </p:nvPicPr>
        <p:blipFill>
          <a:blip r:embed="rId3">
            <a:alphaModFix/>
          </a:blip>
          <a:stretch>
            <a:fillRect/>
          </a:stretch>
        </p:blipFill>
        <p:spPr>
          <a:xfrm>
            <a:off x="152400" y="1712982"/>
            <a:ext cx="8839200" cy="3221429"/>
          </a:xfrm>
          <a:prstGeom prst="rect">
            <a:avLst/>
          </a:prstGeom>
          <a:noFill/>
          <a:ln>
            <a:noFill/>
          </a:ln>
        </p:spPr>
      </p:pic>
      <p:pic>
        <p:nvPicPr>
          <p:cNvPr id="283" name="Google Shape;283;p35"/>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284" name="Google Shape;284;p35"/>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nvSpPr>
        <p:spPr>
          <a:xfrm>
            <a:off x="5809130" y="4947292"/>
            <a:ext cx="3422276" cy="19620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https://github.com/grafeas/kritis/blob/master/docs/signer.md#kritis-signer</a:t>
            </a:r>
            <a:endParaRPr sz="1100"/>
          </a:p>
        </p:txBody>
      </p:sp>
      <p:sp>
        <p:nvSpPr>
          <p:cNvPr id="290" name="Google Shape;290;p36"/>
          <p:cNvSpPr txBox="1"/>
          <p:nvPr/>
        </p:nvSpPr>
        <p:spPr>
          <a:xfrm>
            <a:off x="3062700" y="381400"/>
            <a:ext cx="3018600" cy="8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Font typeface="Arial"/>
              <a:buNone/>
            </a:pPr>
            <a:r>
              <a:rPr lang="es" sz="2700">
                <a:solidFill>
                  <a:schemeClr val="dk1"/>
                </a:solidFill>
                <a:latin typeface="Calibri"/>
                <a:ea typeface="Calibri"/>
                <a:cs typeface="Calibri"/>
                <a:sym typeface="Calibri"/>
              </a:rPr>
              <a:t>Modos de firmante</a:t>
            </a:r>
            <a:endParaRPr sz="2400"/>
          </a:p>
          <a:p>
            <a:pPr indent="0" lvl="0" marL="0" rtl="0" algn="l">
              <a:spcBef>
                <a:spcPts val="0"/>
              </a:spcBef>
              <a:spcAft>
                <a:spcPts val="0"/>
              </a:spcAft>
              <a:buNone/>
            </a:pPr>
            <a:r>
              <a:t/>
            </a:r>
            <a:endParaRPr/>
          </a:p>
        </p:txBody>
      </p:sp>
      <p:sp>
        <p:nvSpPr>
          <p:cNvPr id="291" name="Google Shape;291;p36"/>
          <p:cNvSpPr txBox="1"/>
          <p:nvPr/>
        </p:nvSpPr>
        <p:spPr>
          <a:xfrm>
            <a:off x="1351250" y="980775"/>
            <a:ext cx="741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Calibri"/>
                <a:ea typeface="Calibri"/>
                <a:cs typeface="Calibri"/>
                <a:sym typeface="Calibri"/>
              </a:rPr>
              <a:t>La herramienta se puede ejecutar en tres modos diferentes:</a:t>
            </a:r>
            <a:endParaRPr sz="2000"/>
          </a:p>
        </p:txBody>
      </p:sp>
      <p:sp>
        <p:nvSpPr>
          <p:cNvPr id="292" name="Google Shape;292;p36"/>
          <p:cNvSpPr txBox="1"/>
          <p:nvPr/>
        </p:nvSpPr>
        <p:spPr>
          <a:xfrm>
            <a:off x="540000" y="1949750"/>
            <a:ext cx="3890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Calibri"/>
                <a:ea typeface="Calibri"/>
                <a:cs typeface="Calibri"/>
                <a:sym typeface="Calibri"/>
              </a:rPr>
              <a:t>check-and-sign : Default</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s" sz="1800">
                <a:solidFill>
                  <a:schemeClr val="dk1"/>
                </a:solidFill>
                <a:latin typeface="Calibri"/>
                <a:ea typeface="Calibri"/>
                <a:cs typeface="Calibri"/>
                <a:sym typeface="Calibri"/>
              </a:rPr>
              <a:t>Verifica el cumplimiento de la política para una imagen y crea una atestación para la imagen si pasa la verificación.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s" sz="1800">
                <a:solidFill>
                  <a:schemeClr val="dk1"/>
                </a:solidFill>
                <a:latin typeface="Calibri"/>
                <a:ea typeface="Calibri"/>
                <a:cs typeface="Calibri"/>
                <a:sym typeface="Calibri"/>
              </a:rPr>
              <a:t>Actualmente, solo se admite la política de vulnerabilidad.</a:t>
            </a:r>
            <a:endParaRPr sz="1800"/>
          </a:p>
        </p:txBody>
      </p:sp>
      <p:sp>
        <p:nvSpPr>
          <p:cNvPr id="293" name="Google Shape;293;p36"/>
          <p:cNvSpPr txBox="1"/>
          <p:nvPr/>
        </p:nvSpPr>
        <p:spPr>
          <a:xfrm>
            <a:off x="5427950" y="1949750"/>
            <a:ext cx="33333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Calibri"/>
                <a:ea typeface="Calibri"/>
                <a:cs typeface="Calibri"/>
                <a:sym typeface="Calibri"/>
              </a:rPr>
              <a:t>check-only :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s" sz="1600">
                <a:solidFill>
                  <a:schemeClr val="dk1"/>
                </a:solidFill>
                <a:latin typeface="Calibri"/>
                <a:ea typeface="Calibri"/>
                <a:cs typeface="Calibri"/>
                <a:sym typeface="Calibri"/>
              </a:rPr>
              <a:t>Solo verifica el cumplimiento de la política y genera resultados, pero no crea ninguna atestación.</a:t>
            </a:r>
            <a:endParaRPr sz="1300"/>
          </a:p>
        </p:txBody>
      </p:sp>
      <p:sp>
        <p:nvSpPr>
          <p:cNvPr id="294" name="Google Shape;294;p36"/>
          <p:cNvSpPr txBox="1"/>
          <p:nvPr/>
        </p:nvSpPr>
        <p:spPr>
          <a:xfrm>
            <a:off x="5427950" y="3478925"/>
            <a:ext cx="3000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Calibri"/>
                <a:ea typeface="Calibri"/>
                <a:cs typeface="Calibri"/>
                <a:sym typeface="Calibri"/>
              </a:rPr>
              <a:t>bypass-and-sign :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s" sz="1600">
                <a:solidFill>
                  <a:schemeClr val="dk1"/>
                </a:solidFill>
                <a:latin typeface="Calibri"/>
                <a:ea typeface="Calibri"/>
                <a:cs typeface="Calibri"/>
                <a:sym typeface="Calibri"/>
              </a:rPr>
              <a:t>omite cualquier verificación y crea una certificación para una imagen.</a:t>
            </a:r>
            <a:endParaRPr sz="600"/>
          </a:p>
        </p:txBody>
      </p:sp>
      <p:pic>
        <p:nvPicPr>
          <p:cNvPr id="295" name="Google Shape;295;p36"/>
          <p:cNvPicPr preferRelativeResize="0"/>
          <p:nvPr/>
        </p:nvPicPr>
        <p:blipFill>
          <a:blip r:embed="rId3">
            <a:alphaModFix/>
          </a:blip>
          <a:stretch>
            <a:fillRect/>
          </a:stretch>
        </p:blipFill>
        <p:spPr>
          <a:xfrm>
            <a:off x="8420975" y="0"/>
            <a:ext cx="723026" cy="723026"/>
          </a:xfrm>
          <a:prstGeom prst="rect">
            <a:avLst/>
          </a:prstGeom>
          <a:noFill/>
          <a:ln>
            <a:noFill/>
          </a:ln>
        </p:spPr>
      </p:pic>
      <p:pic>
        <p:nvPicPr>
          <p:cNvPr id="296" name="Google Shape;296;p36"/>
          <p:cNvPicPr preferRelativeResize="0"/>
          <p:nvPr/>
        </p:nvPicPr>
        <p:blipFill>
          <a:blip r:embed="rId4">
            <a:alphaModFix/>
          </a:blip>
          <a:stretch>
            <a:fillRect/>
          </a:stretch>
        </p:blipFill>
        <p:spPr>
          <a:xfrm>
            <a:off x="2998675" y="1839713"/>
            <a:ext cx="392223" cy="392223"/>
          </a:xfrm>
          <a:prstGeom prst="rect">
            <a:avLst/>
          </a:prstGeom>
          <a:noFill/>
          <a:ln>
            <a:noFill/>
          </a:ln>
        </p:spPr>
      </p:pic>
      <p:pic>
        <p:nvPicPr>
          <p:cNvPr id="297" name="Google Shape;297;p36"/>
          <p:cNvPicPr preferRelativeResize="0"/>
          <p:nvPr/>
        </p:nvPicPr>
        <p:blipFill>
          <a:blip r:embed="rId4">
            <a:alphaModFix/>
          </a:blip>
          <a:stretch>
            <a:fillRect/>
          </a:stretch>
        </p:blipFill>
        <p:spPr>
          <a:xfrm>
            <a:off x="6523175" y="1839713"/>
            <a:ext cx="392223" cy="392223"/>
          </a:xfrm>
          <a:prstGeom prst="rect">
            <a:avLst/>
          </a:prstGeom>
          <a:noFill/>
          <a:ln>
            <a:noFill/>
          </a:ln>
        </p:spPr>
      </p:pic>
      <p:pic>
        <p:nvPicPr>
          <p:cNvPr id="298" name="Google Shape;298;p36"/>
          <p:cNvPicPr preferRelativeResize="0"/>
          <p:nvPr/>
        </p:nvPicPr>
        <p:blipFill>
          <a:blip r:embed="rId5">
            <a:alphaModFix/>
          </a:blip>
          <a:stretch>
            <a:fillRect/>
          </a:stretch>
        </p:blipFill>
        <p:spPr>
          <a:xfrm>
            <a:off x="3479550" y="1789525"/>
            <a:ext cx="834500" cy="492599"/>
          </a:xfrm>
          <a:prstGeom prst="rect">
            <a:avLst/>
          </a:prstGeom>
          <a:noFill/>
          <a:ln>
            <a:noFill/>
          </a:ln>
        </p:spPr>
      </p:pic>
      <p:pic>
        <p:nvPicPr>
          <p:cNvPr id="299" name="Google Shape;299;p36"/>
          <p:cNvPicPr preferRelativeResize="0"/>
          <p:nvPr/>
        </p:nvPicPr>
        <p:blipFill>
          <a:blip r:embed="rId5">
            <a:alphaModFix/>
          </a:blip>
          <a:stretch>
            <a:fillRect/>
          </a:stretch>
        </p:blipFill>
        <p:spPr>
          <a:xfrm>
            <a:off x="7586475" y="3309950"/>
            <a:ext cx="834500" cy="492599"/>
          </a:xfrm>
          <a:prstGeom prst="rect">
            <a:avLst/>
          </a:prstGeom>
          <a:noFill/>
          <a:ln>
            <a:noFill/>
          </a:ln>
        </p:spPr>
      </p:pic>
      <p:pic>
        <p:nvPicPr>
          <p:cNvPr id="300" name="Google Shape;300;p36"/>
          <p:cNvPicPr preferRelativeResize="0"/>
          <p:nvPr/>
        </p:nvPicPr>
        <p:blipFill>
          <a:blip r:embed="rId6">
            <a:alphaModFix/>
          </a:blip>
          <a:stretch>
            <a:fillRect/>
          </a:stretch>
        </p:blipFill>
        <p:spPr>
          <a:xfrm>
            <a:off x="7022125" y="3309950"/>
            <a:ext cx="492600" cy="492600"/>
          </a:xfrm>
          <a:prstGeom prst="rect">
            <a:avLst/>
          </a:prstGeom>
          <a:noFill/>
          <a:ln>
            <a:noFill/>
          </a:ln>
        </p:spPr>
      </p:pic>
      <p:pic>
        <p:nvPicPr>
          <p:cNvPr id="301" name="Google Shape;301;p36"/>
          <p:cNvPicPr preferRelativeResize="0"/>
          <p:nvPr/>
        </p:nvPicPr>
        <p:blipFill>
          <a:blip r:embed="rId7">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descr="Kubectls-vgs" id="306" name="Google Shape;306;p37"/>
          <p:cNvPicPr preferRelativeResize="0"/>
          <p:nvPr/>
        </p:nvPicPr>
        <p:blipFill rotWithShape="1">
          <a:blip r:embed="rId3">
            <a:alphaModFix/>
          </a:blip>
          <a:srcRect b="16803" l="5662" r="8823" t="12954"/>
          <a:stretch/>
        </p:blipFill>
        <p:spPr>
          <a:xfrm>
            <a:off x="0" y="835850"/>
            <a:ext cx="9144001" cy="4017721"/>
          </a:xfrm>
          <a:prstGeom prst="rect">
            <a:avLst/>
          </a:prstGeom>
          <a:noFill/>
          <a:ln>
            <a:noFill/>
          </a:ln>
        </p:spPr>
      </p:pic>
      <p:sp>
        <p:nvSpPr>
          <p:cNvPr id="307" name="Google Shape;307;p37"/>
          <p:cNvSpPr txBox="1"/>
          <p:nvPr/>
        </p:nvSpPr>
        <p:spPr>
          <a:xfrm>
            <a:off x="4928348" y="4935751"/>
            <a:ext cx="4572000"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https://www.verygoodsecurity.com/blog/posts/securing-gitops-deployments-in-aws-eks</a:t>
            </a:r>
            <a:endParaRPr sz="1100"/>
          </a:p>
        </p:txBody>
      </p:sp>
      <p:pic>
        <p:nvPicPr>
          <p:cNvPr id="308" name="Google Shape;308;p37"/>
          <p:cNvPicPr preferRelativeResize="0"/>
          <p:nvPr/>
        </p:nvPicPr>
        <p:blipFill>
          <a:blip r:embed="rId4">
            <a:alphaModFix/>
          </a:blip>
          <a:stretch>
            <a:fillRect/>
          </a:stretch>
        </p:blipFill>
        <p:spPr>
          <a:xfrm>
            <a:off x="8420975" y="0"/>
            <a:ext cx="723026" cy="723026"/>
          </a:xfrm>
          <a:prstGeom prst="rect">
            <a:avLst/>
          </a:prstGeom>
          <a:noFill/>
          <a:ln>
            <a:noFill/>
          </a:ln>
        </p:spPr>
      </p:pic>
      <p:sp>
        <p:nvSpPr>
          <p:cNvPr id="309" name="Google Shape;309;p37"/>
          <p:cNvSpPr txBox="1"/>
          <p:nvPr/>
        </p:nvSpPr>
        <p:spPr>
          <a:xfrm>
            <a:off x="3360750" y="132950"/>
            <a:ext cx="2422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0">
                <a:solidFill>
                  <a:schemeClr val="dk1"/>
                </a:solidFill>
                <a:latin typeface="Calibri"/>
                <a:ea typeface="Calibri"/>
                <a:cs typeface="Calibri"/>
                <a:sym typeface="Calibri"/>
              </a:rPr>
              <a:t>Plano general</a:t>
            </a:r>
            <a:endParaRPr sz="3000">
              <a:solidFill>
                <a:schemeClr val="dk1"/>
              </a:solidFill>
              <a:latin typeface="Calibri"/>
              <a:ea typeface="Calibri"/>
              <a:cs typeface="Calibri"/>
              <a:sym typeface="Calibri"/>
            </a:endParaRPr>
          </a:p>
        </p:txBody>
      </p:sp>
      <p:pic>
        <p:nvPicPr>
          <p:cNvPr id="310" name="Google Shape;310;p37"/>
          <p:cNvPicPr preferRelativeResize="0"/>
          <p:nvPr/>
        </p:nvPicPr>
        <p:blipFill>
          <a:blip r:embed="rId5">
            <a:alphaModFix/>
          </a:blip>
          <a:stretch>
            <a:fillRect/>
          </a:stretch>
        </p:blipFill>
        <p:spPr>
          <a:xfrm>
            <a:off x="8311725" y="3156826"/>
            <a:ext cx="839249" cy="452250"/>
          </a:xfrm>
          <a:prstGeom prst="rect">
            <a:avLst/>
          </a:prstGeom>
          <a:noFill/>
          <a:ln>
            <a:noFill/>
          </a:ln>
        </p:spPr>
      </p:pic>
      <p:sp>
        <p:nvSpPr>
          <p:cNvPr id="311" name="Google Shape;311;p37"/>
          <p:cNvSpPr txBox="1"/>
          <p:nvPr/>
        </p:nvSpPr>
        <p:spPr>
          <a:xfrm>
            <a:off x="8235525" y="3723788"/>
            <a:ext cx="1078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000"/>
              <a:t>Vulnerability</a:t>
            </a:r>
            <a:endParaRPr sz="1000"/>
          </a:p>
          <a:p>
            <a:pPr indent="0" lvl="0" marL="0" rtl="0" algn="ctr">
              <a:spcBef>
                <a:spcPts val="0"/>
              </a:spcBef>
              <a:spcAft>
                <a:spcPts val="0"/>
              </a:spcAft>
              <a:buNone/>
            </a:pPr>
            <a:r>
              <a:rPr lang="es" sz="1000"/>
              <a:t>Scan</a:t>
            </a:r>
            <a:endParaRPr sz="1000"/>
          </a:p>
        </p:txBody>
      </p:sp>
      <p:pic>
        <p:nvPicPr>
          <p:cNvPr id="312" name="Google Shape;312;p37"/>
          <p:cNvPicPr preferRelativeResize="0"/>
          <p:nvPr/>
        </p:nvPicPr>
        <p:blipFill>
          <a:blip r:embed="rId6">
            <a:alphaModFix/>
          </a:blip>
          <a:stretch>
            <a:fillRect/>
          </a:stretch>
        </p:blipFill>
        <p:spPr>
          <a:xfrm>
            <a:off x="8623500" y="3169725"/>
            <a:ext cx="520500" cy="520500"/>
          </a:xfrm>
          <a:prstGeom prst="rect">
            <a:avLst/>
          </a:prstGeom>
          <a:noFill/>
          <a:ln>
            <a:noFill/>
          </a:ln>
        </p:spPr>
      </p:pic>
      <p:pic>
        <p:nvPicPr>
          <p:cNvPr id="313" name="Google Shape;313;p37"/>
          <p:cNvPicPr preferRelativeResize="0"/>
          <p:nvPr/>
        </p:nvPicPr>
        <p:blipFill>
          <a:blip r:embed="rId7">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8"/>
          <p:cNvSpPr txBox="1"/>
          <p:nvPr/>
        </p:nvSpPr>
        <p:spPr>
          <a:xfrm>
            <a:off x="1896125" y="262425"/>
            <a:ext cx="4617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4200">
                <a:solidFill>
                  <a:schemeClr val="dk1"/>
                </a:solidFill>
              </a:rPr>
              <a:t>¿Qué</a:t>
            </a:r>
            <a:r>
              <a:rPr lang="es" sz="4200">
                <a:solidFill>
                  <a:schemeClr val="dk1"/>
                </a:solidFill>
              </a:rPr>
              <a:t> es Grafeas?</a:t>
            </a:r>
            <a:endParaRPr sz="4200">
              <a:solidFill>
                <a:schemeClr val="dk1"/>
              </a:solidFill>
            </a:endParaRPr>
          </a:p>
        </p:txBody>
      </p:sp>
      <p:sp>
        <p:nvSpPr>
          <p:cNvPr id="319" name="Google Shape;319;p38"/>
          <p:cNvSpPr txBox="1"/>
          <p:nvPr/>
        </p:nvSpPr>
        <p:spPr>
          <a:xfrm>
            <a:off x="483084" y="1292073"/>
            <a:ext cx="4451100" cy="1531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900">
                <a:solidFill>
                  <a:schemeClr val="dk1"/>
                </a:solidFill>
                <a:latin typeface="Calibri"/>
                <a:ea typeface="Calibri"/>
                <a:cs typeface="Calibri"/>
                <a:sym typeface="Calibri"/>
              </a:rPr>
              <a:t>Grafeas ("escriba" en griego) es una API de metadatos de artefactos de código abierto que proporciona una forma uniforme de auditar y gobernar su cadena de suministro de software.</a:t>
            </a:r>
            <a:endParaRPr sz="1900">
              <a:solidFill>
                <a:schemeClr val="dk1"/>
              </a:solidFill>
              <a:latin typeface="Calibri"/>
              <a:ea typeface="Calibri"/>
              <a:cs typeface="Calibri"/>
              <a:sym typeface="Calibri"/>
            </a:endParaRPr>
          </a:p>
        </p:txBody>
      </p:sp>
      <p:sp>
        <p:nvSpPr>
          <p:cNvPr id="320" name="Google Shape;320;p38"/>
          <p:cNvSpPr txBox="1"/>
          <p:nvPr/>
        </p:nvSpPr>
        <p:spPr>
          <a:xfrm>
            <a:off x="3695251" y="3327875"/>
            <a:ext cx="5296200" cy="1239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900">
                <a:solidFill>
                  <a:schemeClr val="dk1"/>
                </a:solidFill>
                <a:latin typeface="Calibri"/>
                <a:ea typeface="Calibri"/>
                <a:cs typeface="Calibri"/>
                <a:sym typeface="Calibri"/>
              </a:rPr>
              <a:t>Grafeas define una especificación de API para administrar metadatos sobre recursos de software, como imágenes de contenedores, imágenes de máquinas virtuales (VM), archivos JAR y scripts.</a:t>
            </a:r>
            <a:endParaRPr sz="1900">
              <a:solidFill>
                <a:schemeClr val="dk1"/>
              </a:solidFill>
              <a:latin typeface="Calibri"/>
              <a:ea typeface="Calibri"/>
              <a:cs typeface="Calibri"/>
              <a:sym typeface="Calibri"/>
            </a:endParaRPr>
          </a:p>
        </p:txBody>
      </p:sp>
      <p:sp>
        <p:nvSpPr>
          <p:cNvPr id="321" name="Google Shape;321;p38"/>
          <p:cNvSpPr txBox="1"/>
          <p:nvPr/>
        </p:nvSpPr>
        <p:spPr>
          <a:xfrm>
            <a:off x="7416052" y="4935751"/>
            <a:ext cx="17817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https://github.com/grafeas/grafeas</a:t>
            </a:r>
            <a:endParaRPr sz="1100"/>
          </a:p>
        </p:txBody>
      </p:sp>
      <p:pic>
        <p:nvPicPr>
          <p:cNvPr id="322" name="Google Shape;322;p38"/>
          <p:cNvPicPr preferRelativeResize="0"/>
          <p:nvPr/>
        </p:nvPicPr>
        <p:blipFill>
          <a:blip r:embed="rId3">
            <a:alphaModFix/>
          </a:blip>
          <a:stretch>
            <a:fillRect/>
          </a:stretch>
        </p:blipFill>
        <p:spPr>
          <a:xfrm>
            <a:off x="1035075" y="2939811"/>
            <a:ext cx="2089165" cy="2015127"/>
          </a:xfrm>
          <a:prstGeom prst="rect">
            <a:avLst/>
          </a:prstGeom>
          <a:noFill/>
          <a:ln>
            <a:noFill/>
          </a:ln>
        </p:spPr>
      </p:pic>
      <p:pic>
        <p:nvPicPr>
          <p:cNvPr id="323" name="Google Shape;323;p38"/>
          <p:cNvPicPr preferRelativeResize="0"/>
          <p:nvPr/>
        </p:nvPicPr>
        <p:blipFill rotWithShape="1">
          <a:blip r:embed="rId4">
            <a:alphaModFix/>
          </a:blip>
          <a:srcRect b="18333" l="14781" r="11346" t="17113"/>
          <a:stretch/>
        </p:blipFill>
        <p:spPr>
          <a:xfrm>
            <a:off x="5742825" y="1093713"/>
            <a:ext cx="2560849" cy="1928225"/>
          </a:xfrm>
          <a:prstGeom prst="rect">
            <a:avLst/>
          </a:prstGeom>
          <a:noFill/>
          <a:ln>
            <a:noFill/>
          </a:ln>
        </p:spPr>
      </p:pic>
      <p:pic>
        <p:nvPicPr>
          <p:cNvPr id="324" name="Google Shape;324;p38"/>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325" name="Google Shape;325;p38"/>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9"/>
          <p:cNvSpPr txBox="1"/>
          <p:nvPr/>
        </p:nvSpPr>
        <p:spPr>
          <a:xfrm>
            <a:off x="2060250" y="1416125"/>
            <a:ext cx="38451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300">
                <a:solidFill>
                  <a:schemeClr val="dk1"/>
                </a:solidFill>
                <a:latin typeface="Calibri"/>
                <a:ea typeface="Calibri"/>
                <a:cs typeface="Calibri"/>
                <a:sym typeface="Calibri"/>
              </a:rPr>
              <a:t>F</a:t>
            </a:r>
            <a:r>
              <a:rPr lang="es" sz="2300">
                <a:solidFill>
                  <a:schemeClr val="dk1"/>
                </a:solidFill>
                <a:latin typeface="Calibri"/>
                <a:ea typeface="Calibri"/>
                <a:cs typeface="Calibri"/>
                <a:sym typeface="Calibri"/>
              </a:rPr>
              <a:t>uente central de información</a:t>
            </a:r>
            <a:endParaRPr sz="1800">
              <a:latin typeface="Calibri"/>
              <a:ea typeface="Calibri"/>
              <a:cs typeface="Calibri"/>
              <a:sym typeface="Calibri"/>
            </a:endParaRPr>
          </a:p>
        </p:txBody>
      </p:sp>
      <p:sp>
        <p:nvSpPr>
          <p:cNvPr id="331" name="Google Shape;331;p39"/>
          <p:cNvSpPr txBox="1"/>
          <p:nvPr/>
        </p:nvSpPr>
        <p:spPr>
          <a:xfrm>
            <a:off x="2060250" y="2543625"/>
            <a:ext cx="45762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300">
                <a:solidFill>
                  <a:schemeClr val="dk1"/>
                </a:solidFill>
                <a:latin typeface="Calibri"/>
                <a:ea typeface="Calibri"/>
                <a:cs typeface="Calibri"/>
                <a:sym typeface="Calibri"/>
              </a:rPr>
              <a:t>R</a:t>
            </a:r>
            <a:r>
              <a:rPr lang="es" sz="2300">
                <a:solidFill>
                  <a:schemeClr val="dk1"/>
                </a:solidFill>
                <a:latin typeface="Calibri"/>
                <a:ea typeface="Calibri"/>
                <a:cs typeface="Calibri"/>
                <a:sym typeface="Calibri"/>
              </a:rPr>
              <a:t>astrear y hacer cumplir las políticas</a:t>
            </a:r>
            <a:endParaRPr/>
          </a:p>
        </p:txBody>
      </p:sp>
      <p:sp>
        <p:nvSpPr>
          <p:cNvPr id="332" name="Google Shape;332;p39"/>
          <p:cNvSpPr txBox="1"/>
          <p:nvPr/>
        </p:nvSpPr>
        <p:spPr>
          <a:xfrm>
            <a:off x="2060250" y="3383625"/>
            <a:ext cx="59454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300">
                <a:solidFill>
                  <a:schemeClr val="dk1"/>
                </a:solidFill>
                <a:latin typeface="Calibri"/>
                <a:ea typeface="Calibri"/>
                <a:cs typeface="Calibri"/>
                <a:sym typeface="Calibri"/>
              </a:rPr>
              <a:t>Se p</a:t>
            </a:r>
            <a:r>
              <a:rPr lang="es" sz="2300">
                <a:solidFill>
                  <a:schemeClr val="dk1"/>
                </a:solidFill>
                <a:latin typeface="Calibri"/>
                <a:ea typeface="Calibri"/>
                <a:cs typeface="Calibri"/>
                <a:sym typeface="Calibri"/>
              </a:rPr>
              <a:t>uede usar la API de Grafeas para almacenar, consultar y recuperar metadatos</a:t>
            </a:r>
            <a:endParaRPr/>
          </a:p>
        </p:txBody>
      </p:sp>
      <p:sp>
        <p:nvSpPr>
          <p:cNvPr id="333" name="Google Shape;333;p39"/>
          <p:cNvSpPr txBox="1"/>
          <p:nvPr/>
        </p:nvSpPr>
        <p:spPr>
          <a:xfrm>
            <a:off x="2746050" y="261800"/>
            <a:ext cx="3651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4000">
                <a:solidFill>
                  <a:schemeClr val="dk1"/>
                </a:solidFill>
                <a:latin typeface="Calibri"/>
                <a:ea typeface="Calibri"/>
                <a:cs typeface="Calibri"/>
                <a:sym typeface="Calibri"/>
              </a:rPr>
              <a:t>¿Para</a:t>
            </a:r>
            <a:r>
              <a:rPr lang="es" sz="4000">
                <a:solidFill>
                  <a:schemeClr val="dk1"/>
                </a:solidFill>
                <a:latin typeface="Calibri"/>
                <a:ea typeface="Calibri"/>
                <a:cs typeface="Calibri"/>
                <a:sym typeface="Calibri"/>
              </a:rPr>
              <a:t> </a:t>
            </a:r>
            <a:r>
              <a:rPr lang="es" sz="4000">
                <a:solidFill>
                  <a:schemeClr val="dk1"/>
                </a:solidFill>
                <a:latin typeface="Calibri"/>
                <a:ea typeface="Calibri"/>
                <a:cs typeface="Calibri"/>
                <a:sym typeface="Calibri"/>
              </a:rPr>
              <a:t>qué</a:t>
            </a:r>
            <a:r>
              <a:rPr lang="es" sz="4000">
                <a:solidFill>
                  <a:schemeClr val="dk1"/>
                </a:solidFill>
                <a:latin typeface="Calibri"/>
                <a:ea typeface="Calibri"/>
                <a:cs typeface="Calibri"/>
                <a:sym typeface="Calibri"/>
              </a:rPr>
              <a:t> sirve?</a:t>
            </a:r>
            <a:endParaRPr sz="4000">
              <a:solidFill>
                <a:schemeClr val="dk1"/>
              </a:solidFill>
              <a:latin typeface="Calibri"/>
              <a:ea typeface="Calibri"/>
              <a:cs typeface="Calibri"/>
              <a:sym typeface="Calibri"/>
            </a:endParaRPr>
          </a:p>
        </p:txBody>
      </p:sp>
      <p:pic>
        <p:nvPicPr>
          <p:cNvPr id="334" name="Google Shape;334;p39"/>
          <p:cNvPicPr preferRelativeResize="0"/>
          <p:nvPr/>
        </p:nvPicPr>
        <p:blipFill>
          <a:blip r:embed="rId3">
            <a:alphaModFix/>
          </a:blip>
          <a:stretch>
            <a:fillRect/>
          </a:stretch>
        </p:blipFill>
        <p:spPr>
          <a:xfrm>
            <a:off x="1085300" y="1331288"/>
            <a:ext cx="708474" cy="708474"/>
          </a:xfrm>
          <a:prstGeom prst="rect">
            <a:avLst/>
          </a:prstGeom>
          <a:noFill/>
          <a:ln>
            <a:noFill/>
          </a:ln>
        </p:spPr>
      </p:pic>
      <p:pic>
        <p:nvPicPr>
          <p:cNvPr id="335" name="Google Shape;335;p39"/>
          <p:cNvPicPr preferRelativeResize="0"/>
          <p:nvPr/>
        </p:nvPicPr>
        <p:blipFill>
          <a:blip r:embed="rId3">
            <a:alphaModFix/>
          </a:blip>
          <a:stretch>
            <a:fillRect/>
          </a:stretch>
        </p:blipFill>
        <p:spPr>
          <a:xfrm>
            <a:off x="1085300" y="2458788"/>
            <a:ext cx="708474" cy="708474"/>
          </a:xfrm>
          <a:prstGeom prst="rect">
            <a:avLst/>
          </a:prstGeom>
          <a:noFill/>
          <a:ln>
            <a:noFill/>
          </a:ln>
        </p:spPr>
      </p:pic>
      <p:pic>
        <p:nvPicPr>
          <p:cNvPr id="336" name="Google Shape;336;p39"/>
          <p:cNvPicPr preferRelativeResize="0"/>
          <p:nvPr/>
        </p:nvPicPr>
        <p:blipFill>
          <a:blip r:embed="rId3">
            <a:alphaModFix/>
          </a:blip>
          <a:stretch>
            <a:fillRect/>
          </a:stretch>
        </p:blipFill>
        <p:spPr>
          <a:xfrm>
            <a:off x="1085300" y="3652788"/>
            <a:ext cx="708474" cy="708474"/>
          </a:xfrm>
          <a:prstGeom prst="rect">
            <a:avLst/>
          </a:prstGeom>
          <a:noFill/>
          <a:ln>
            <a:noFill/>
          </a:ln>
        </p:spPr>
      </p:pic>
      <p:pic>
        <p:nvPicPr>
          <p:cNvPr id="337" name="Google Shape;337;p39"/>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338" name="Google Shape;338;p39"/>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0"/>
          <p:cNvSpPr txBox="1"/>
          <p:nvPr/>
        </p:nvSpPr>
        <p:spPr>
          <a:xfrm>
            <a:off x="2031169" y="585099"/>
            <a:ext cx="5204100" cy="9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700">
                <a:solidFill>
                  <a:schemeClr val="dk1"/>
                </a:solidFill>
                <a:latin typeface="Calibri"/>
                <a:ea typeface="Calibri"/>
                <a:cs typeface="Calibri"/>
                <a:sym typeface="Calibri"/>
              </a:rPr>
              <a:t>Grafeas divide la información de los metadatos en notas y occurrences</a:t>
            </a:r>
            <a:endParaRPr sz="1400">
              <a:solidFill>
                <a:schemeClr val="dk1"/>
              </a:solidFill>
              <a:latin typeface="Calibri"/>
              <a:ea typeface="Calibri"/>
              <a:cs typeface="Calibri"/>
              <a:sym typeface="Calibri"/>
            </a:endParaRPr>
          </a:p>
        </p:txBody>
      </p:sp>
      <p:sp>
        <p:nvSpPr>
          <p:cNvPr id="344" name="Google Shape;344;p40"/>
          <p:cNvSpPr txBox="1"/>
          <p:nvPr/>
        </p:nvSpPr>
        <p:spPr>
          <a:xfrm>
            <a:off x="621052" y="1713988"/>
            <a:ext cx="3446700" cy="992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000">
                <a:solidFill>
                  <a:schemeClr val="dk1"/>
                </a:solidFill>
                <a:latin typeface="Calibri"/>
                <a:ea typeface="Calibri"/>
                <a:cs typeface="Calibri"/>
                <a:sym typeface="Calibri"/>
              </a:rPr>
              <a:t>Las notas son descripciones de alto nivel de tipos particulares de metadatos.</a:t>
            </a:r>
            <a:endParaRPr sz="2000">
              <a:solidFill>
                <a:schemeClr val="dk1"/>
              </a:solidFill>
              <a:latin typeface="Calibri"/>
              <a:ea typeface="Calibri"/>
              <a:cs typeface="Calibri"/>
              <a:sym typeface="Calibri"/>
            </a:endParaRPr>
          </a:p>
        </p:txBody>
      </p:sp>
      <p:sp>
        <p:nvSpPr>
          <p:cNvPr id="345" name="Google Shape;345;p40"/>
          <p:cNvSpPr txBox="1"/>
          <p:nvPr/>
        </p:nvSpPr>
        <p:spPr>
          <a:xfrm>
            <a:off x="4831866" y="1561600"/>
            <a:ext cx="4038000" cy="130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000">
                <a:solidFill>
                  <a:schemeClr val="dk1"/>
                </a:solidFill>
                <a:latin typeface="Calibri"/>
                <a:ea typeface="Calibri"/>
                <a:cs typeface="Calibri"/>
                <a:sym typeface="Calibri"/>
              </a:rPr>
              <a:t>Las ocurrencias son instanciaciones de notas, que describen cómo y cuándo ocurre una nota dada en el recurso asociado con la ocurrencia.</a:t>
            </a:r>
            <a:endParaRPr sz="1400">
              <a:solidFill>
                <a:schemeClr val="dk1"/>
              </a:solidFill>
              <a:latin typeface="Calibri"/>
              <a:ea typeface="Calibri"/>
              <a:cs typeface="Calibri"/>
              <a:sym typeface="Calibri"/>
            </a:endParaRPr>
          </a:p>
        </p:txBody>
      </p:sp>
      <p:sp>
        <p:nvSpPr>
          <p:cNvPr id="346" name="Google Shape;346;p40"/>
          <p:cNvSpPr txBox="1"/>
          <p:nvPr/>
        </p:nvSpPr>
        <p:spPr>
          <a:xfrm>
            <a:off x="6353735" y="4947292"/>
            <a:ext cx="2850776" cy="19620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https://github.com/grafeas/grafeas/blob/master/README.md</a:t>
            </a:r>
            <a:endParaRPr sz="1100"/>
          </a:p>
        </p:txBody>
      </p:sp>
      <p:pic>
        <p:nvPicPr>
          <p:cNvPr id="347" name="Google Shape;347;p40"/>
          <p:cNvPicPr preferRelativeResize="0"/>
          <p:nvPr/>
        </p:nvPicPr>
        <p:blipFill>
          <a:blip r:embed="rId3">
            <a:alphaModFix/>
          </a:blip>
          <a:stretch>
            <a:fillRect/>
          </a:stretch>
        </p:blipFill>
        <p:spPr>
          <a:xfrm>
            <a:off x="1265813" y="2756700"/>
            <a:ext cx="2157150" cy="2157150"/>
          </a:xfrm>
          <a:prstGeom prst="rect">
            <a:avLst/>
          </a:prstGeom>
          <a:noFill/>
          <a:ln>
            <a:noFill/>
          </a:ln>
        </p:spPr>
      </p:pic>
      <p:pic>
        <p:nvPicPr>
          <p:cNvPr id="348" name="Google Shape;348;p40"/>
          <p:cNvPicPr preferRelativeResize="0"/>
          <p:nvPr/>
        </p:nvPicPr>
        <p:blipFill>
          <a:blip r:embed="rId4">
            <a:alphaModFix/>
          </a:blip>
          <a:stretch>
            <a:fillRect/>
          </a:stretch>
        </p:blipFill>
        <p:spPr>
          <a:xfrm>
            <a:off x="5860274" y="2932660"/>
            <a:ext cx="1981201" cy="1981201"/>
          </a:xfrm>
          <a:prstGeom prst="rect">
            <a:avLst/>
          </a:prstGeom>
          <a:noFill/>
          <a:ln>
            <a:noFill/>
          </a:ln>
        </p:spPr>
      </p:pic>
      <p:pic>
        <p:nvPicPr>
          <p:cNvPr id="349" name="Google Shape;349;p40"/>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350" name="Google Shape;350;p40"/>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1"/>
          <p:cNvSpPr txBox="1"/>
          <p:nvPr/>
        </p:nvSpPr>
        <p:spPr>
          <a:xfrm>
            <a:off x="4054500" y="376525"/>
            <a:ext cx="10350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700">
                <a:solidFill>
                  <a:schemeClr val="dk1"/>
                </a:solidFill>
                <a:latin typeface="Calibri"/>
                <a:ea typeface="Calibri"/>
                <a:cs typeface="Calibri"/>
                <a:sym typeface="Calibri"/>
              </a:rPr>
              <a:t>Notas</a:t>
            </a:r>
            <a:endParaRPr sz="1400">
              <a:solidFill>
                <a:schemeClr val="dk1"/>
              </a:solidFill>
              <a:latin typeface="Calibri"/>
              <a:ea typeface="Calibri"/>
              <a:cs typeface="Calibri"/>
              <a:sym typeface="Calibri"/>
            </a:endParaRPr>
          </a:p>
        </p:txBody>
      </p:sp>
      <p:sp>
        <p:nvSpPr>
          <p:cNvPr id="356" name="Google Shape;356;p41"/>
          <p:cNvSpPr txBox="1"/>
          <p:nvPr/>
        </p:nvSpPr>
        <p:spPr>
          <a:xfrm>
            <a:off x="1419977" y="1401588"/>
            <a:ext cx="3323100" cy="130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000">
                <a:solidFill>
                  <a:schemeClr val="dk1"/>
                </a:solidFill>
                <a:latin typeface="Calibri"/>
                <a:ea typeface="Calibri"/>
                <a:cs typeface="Calibri"/>
                <a:sym typeface="Calibri"/>
              </a:rPr>
              <a:t>Una nota describe una pieza de metadatos de alto nivel y sus vulnerabilidades reportadas</a:t>
            </a:r>
            <a:endParaRPr sz="2000">
              <a:solidFill>
                <a:schemeClr val="dk1"/>
              </a:solidFill>
              <a:latin typeface="Calibri"/>
              <a:ea typeface="Calibri"/>
              <a:cs typeface="Calibri"/>
              <a:sym typeface="Calibri"/>
            </a:endParaRPr>
          </a:p>
        </p:txBody>
      </p:sp>
      <p:sp>
        <p:nvSpPr>
          <p:cNvPr id="357" name="Google Shape;357;p41"/>
          <p:cNvSpPr txBox="1"/>
          <p:nvPr/>
        </p:nvSpPr>
        <p:spPr>
          <a:xfrm>
            <a:off x="3242473" y="3437475"/>
            <a:ext cx="5178600" cy="1177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800">
                <a:solidFill>
                  <a:schemeClr val="dk1"/>
                </a:solidFill>
                <a:latin typeface="Calibri"/>
                <a:ea typeface="Calibri"/>
                <a:cs typeface="Calibri"/>
                <a:sym typeface="Calibri"/>
              </a:rPr>
              <a:t>Las notas a menudo pertenecen y son creadas por los proveedores que realizan el análisis. Las notas generalmente se encuentran a través del análisis y ocurren varias veces en diferentes proyectos.</a:t>
            </a:r>
            <a:endParaRPr sz="1800">
              <a:solidFill>
                <a:schemeClr val="dk1"/>
              </a:solidFill>
              <a:latin typeface="Calibri"/>
              <a:ea typeface="Calibri"/>
              <a:cs typeface="Calibri"/>
              <a:sym typeface="Calibri"/>
            </a:endParaRPr>
          </a:p>
        </p:txBody>
      </p:sp>
      <p:sp>
        <p:nvSpPr>
          <p:cNvPr id="358" name="Google Shape;358;p41"/>
          <p:cNvSpPr txBox="1"/>
          <p:nvPr/>
        </p:nvSpPr>
        <p:spPr>
          <a:xfrm>
            <a:off x="6353735" y="4947292"/>
            <a:ext cx="2850776" cy="3231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https://github.com/grafeas/grafeas/blob/master/docs/grafeas_concepts.md</a:t>
            </a:r>
            <a:endParaRPr sz="1100"/>
          </a:p>
        </p:txBody>
      </p:sp>
      <p:pic>
        <p:nvPicPr>
          <p:cNvPr id="359" name="Google Shape;359;p41"/>
          <p:cNvPicPr preferRelativeResize="0"/>
          <p:nvPr/>
        </p:nvPicPr>
        <p:blipFill rotWithShape="1">
          <a:blip r:embed="rId3">
            <a:alphaModFix/>
          </a:blip>
          <a:srcRect b="18301" l="0" r="0" t="21257"/>
          <a:stretch/>
        </p:blipFill>
        <p:spPr>
          <a:xfrm>
            <a:off x="594275" y="3026350"/>
            <a:ext cx="2648200" cy="1600675"/>
          </a:xfrm>
          <a:prstGeom prst="rect">
            <a:avLst/>
          </a:prstGeom>
          <a:noFill/>
          <a:ln>
            <a:noFill/>
          </a:ln>
        </p:spPr>
      </p:pic>
      <p:pic>
        <p:nvPicPr>
          <p:cNvPr id="360" name="Google Shape;360;p41"/>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361" name="Google Shape;361;p41"/>
          <p:cNvPicPr preferRelativeResize="0"/>
          <p:nvPr/>
        </p:nvPicPr>
        <p:blipFill>
          <a:blip r:embed="rId5">
            <a:alphaModFix/>
          </a:blip>
          <a:stretch>
            <a:fillRect/>
          </a:stretch>
        </p:blipFill>
        <p:spPr>
          <a:xfrm>
            <a:off x="6440900" y="117400"/>
            <a:ext cx="1986100" cy="488225"/>
          </a:xfrm>
          <a:prstGeom prst="rect">
            <a:avLst/>
          </a:prstGeom>
          <a:noFill/>
          <a:ln>
            <a:noFill/>
          </a:ln>
        </p:spPr>
      </p:pic>
      <p:pic>
        <p:nvPicPr>
          <p:cNvPr id="362" name="Google Shape;362;p41"/>
          <p:cNvPicPr preferRelativeResize="0"/>
          <p:nvPr/>
        </p:nvPicPr>
        <p:blipFill rotWithShape="1">
          <a:blip r:embed="rId6">
            <a:alphaModFix/>
          </a:blip>
          <a:srcRect b="0" l="15004" r="16884" t="4085"/>
          <a:stretch/>
        </p:blipFill>
        <p:spPr>
          <a:xfrm>
            <a:off x="5282825" y="879738"/>
            <a:ext cx="1621627" cy="22836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2"/>
          <p:cNvSpPr txBox="1"/>
          <p:nvPr/>
        </p:nvSpPr>
        <p:spPr>
          <a:xfrm>
            <a:off x="3593100" y="431700"/>
            <a:ext cx="19578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700">
                <a:solidFill>
                  <a:schemeClr val="dk1"/>
                </a:solidFill>
                <a:latin typeface="Calibri"/>
                <a:ea typeface="Calibri"/>
                <a:cs typeface="Calibri"/>
                <a:sym typeface="Calibri"/>
              </a:rPr>
              <a:t>Ocurrencias</a:t>
            </a:r>
            <a:endParaRPr sz="2700">
              <a:solidFill>
                <a:schemeClr val="dk1"/>
              </a:solidFill>
              <a:latin typeface="Calibri"/>
              <a:ea typeface="Calibri"/>
              <a:cs typeface="Calibri"/>
              <a:sym typeface="Calibri"/>
            </a:endParaRPr>
          </a:p>
        </p:txBody>
      </p:sp>
      <p:sp>
        <p:nvSpPr>
          <p:cNvPr id="368" name="Google Shape;368;p42"/>
          <p:cNvSpPr txBox="1"/>
          <p:nvPr/>
        </p:nvSpPr>
        <p:spPr>
          <a:xfrm>
            <a:off x="471675" y="1340350"/>
            <a:ext cx="3766800" cy="1239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900">
                <a:solidFill>
                  <a:schemeClr val="dk1"/>
                </a:solidFill>
                <a:latin typeface="Calibri"/>
                <a:ea typeface="Calibri"/>
                <a:cs typeface="Calibri"/>
                <a:sym typeface="Calibri"/>
              </a:rPr>
              <a:t>Una ocurrencia es una instanciación de una nota. Las ocurrencias describen detalles específicos del proyecto de una nota determinada. </a:t>
            </a:r>
            <a:endParaRPr sz="1900">
              <a:solidFill>
                <a:schemeClr val="dk1"/>
              </a:solidFill>
              <a:latin typeface="Calibri"/>
              <a:ea typeface="Calibri"/>
              <a:cs typeface="Calibri"/>
              <a:sym typeface="Calibri"/>
            </a:endParaRPr>
          </a:p>
        </p:txBody>
      </p:sp>
      <p:sp>
        <p:nvSpPr>
          <p:cNvPr id="369" name="Google Shape;369;p42"/>
          <p:cNvSpPr txBox="1"/>
          <p:nvPr/>
        </p:nvSpPr>
        <p:spPr>
          <a:xfrm>
            <a:off x="6353735" y="4947292"/>
            <a:ext cx="2850776" cy="3231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https://github.com/grafeas/grafeas/blob/master/docs/grafeas_concepts.md</a:t>
            </a:r>
            <a:endParaRPr sz="1100"/>
          </a:p>
        </p:txBody>
      </p:sp>
      <p:sp>
        <p:nvSpPr>
          <p:cNvPr id="370" name="Google Shape;370;p42"/>
          <p:cNvSpPr txBox="1"/>
          <p:nvPr/>
        </p:nvSpPr>
        <p:spPr>
          <a:xfrm>
            <a:off x="4572000" y="3218000"/>
            <a:ext cx="37668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solidFill>
                  <a:schemeClr val="dk1"/>
                </a:solidFill>
                <a:latin typeface="Calibri"/>
                <a:ea typeface="Calibri"/>
                <a:cs typeface="Calibri"/>
                <a:sym typeface="Calibri"/>
              </a:rPr>
              <a:t>Por ejemplo, la aparición de una nota sobre una vulnerabilidad describiría el paquete en el que se encontró la vulnerabilidad, los pasos de corrección específicos, etc. </a:t>
            </a:r>
            <a:endParaRPr>
              <a:solidFill>
                <a:schemeClr val="dk1"/>
              </a:solidFill>
              <a:latin typeface="Calibri"/>
              <a:ea typeface="Calibri"/>
              <a:cs typeface="Calibri"/>
              <a:sym typeface="Calibri"/>
            </a:endParaRPr>
          </a:p>
        </p:txBody>
      </p:sp>
      <p:pic>
        <p:nvPicPr>
          <p:cNvPr id="371" name="Google Shape;371;p42"/>
          <p:cNvPicPr preferRelativeResize="0"/>
          <p:nvPr/>
        </p:nvPicPr>
        <p:blipFill rotWithShape="1">
          <a:blip r:embed="rId3">
            <a:alphaModFix/>
          </a:blip>
          <a:srcRect b="6872" l="0" r="0" t="12741"/>
          <a:stretch/>
        </p:blipFill>
        <p:spPr>
          <a:xfrm>
            <a:off x="5233875" y="1054051"/>
            <a:ext cx="2968634" cy="1811601"/>
          </a:xfrm>
          <a:prstGeom prst="rect">
            <a:avLst/>
          </a:prstGeom>
          <a:noFill/>
          <a:ln>
            <a:noFill/>
          </a:ln>
        </p:spPr>
      </p:pic>
      <p:pic>
        <p:nvPicPr>
          <p:cNvPr id="372" name="Google Shape;372;p42"/>
          <p:cNvPicPr preferRelativeResize="0"/>
          <p:nvPr/>
        </p:nvPicPr>
        <p:blipFill rotWithShape="1">
          <a:blip r:embed="rId4">
            <a:alphaModFix/>
          </a:blip>
          <a:srcRect b="24973" l="13997" r="12833" t="17189"/>
          <a:stretch/>
        </p:blipFill>
        <p:spPr>
          <a:xfrm>
            <a:off x="1197850" y="3176850"/>
            <a:ext cx="2732435" cy="1729299"/>
          </a:xfrm>
          <a:prstGeom prst="rect">
            <a:avLst/>
          </a:prstGeom>
          <a:noFill/>
          <a:ln>
            <a:noFill/>
          </a:ln>
        </p:spPr>
      </p:pic>
      <p:pic>
        <p:nvPicPr>
          <p:cNvPr id="373" name="Google Shape;373;p42"/>
          <p:cNvPicPr preferRelativeResize="0"/>
          <p:nvPr/>
        </p:nvPicPr>
        <p:blipFill>
          <a:blip r:embed="rId5">
            <a:alphaModFix/>
          </a:blip>
          <a:stretch>
            <a:fillRect/>
          </a:stretch>
        </p:blipFill>
        <p:spPr>
          <a:xfrm>
            <a:off x="8420975" y="0"/>
            <a:ext cx="723026" cy="723026"/>
          </a:xfrm>
          <a:prstGeom prst="rect">
            <a:avLst/>
          </a:prstGeom>
          <a:noFill/>
          <a:ln>
            <a:noFill/>
          </a:ln>
        </p:spPr>
      </p:pic>
      <p:cxnSp>
        <p:nvCxnSpPr>
          <p:cNvPr id="374" name="Google Shape;374;p42"/>
          <p:cNvCxnSpPr/>
          <p:nvPr/>
        </p:nvCxnSpPr>
        <p:spPr>
          <a:xfrm>
            <a:off x="525025" y="3007125"/>
            <a:ext cx="7662000" cy="0"/>
          </a:xfrm>
          <a:prstGeom prst="straightConnector1">
            <a:avLst/>
          </a:prstGeom>
          <a:noFill/>
          <a:ln cap="flat" cmpd="sng" w="28575">
            <a:solidFill>
              <a:schemeClr val="dk2"/>
            </a:solidFill>
            <a:prstDash val="dot"/>
            <a:round/>
            <a:headEnd len="med" w="med" type="none"/>
            <a:tailEnd len="med" w="med" type="none"/>
          </a:ln>
        </p:spPr>
      </p:cxnSp>
      <p:pic>
        <p:nvPicPr>
          <p:cNvPr id="375" name="Google Shape;375;p42"/>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3"/>
          <p:cNvSpPr txBox="1"/>
          <p:nvPr/>
        </p:nvSpPr>
        <p:spPr>
          <a:xfrm>
            <a:off x="2941950" y="307900"/>
            <a:ext cx="3260100" cy="453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500">
                <a:solidFill>
                  <a:schemeClr val="dk1"/>
                </a:solidFill>
                <a:latin typeface="Calibri"/>
                <a:ea typeface="Calibri"/>
                <a:cs typeface="Calibri"/>
                <a:sym typeface="Calibri"/>
              </a:rPr>
              <a:t>Admission Controller</a:t>
            </a:r>
            <a:endParaRPr sz="2200"/>
          </a:p>
        </p:txBody>
      </p:sp>
      <p:sp>
        <p:nvSpPr>
          <p:cNvPr id="381" name="Google Shape;381;p43"/>
          <p:cNvSpPr txBox="1"/>
          <p:nvPr/>
        </p:nvSpPr>
        <p:spPr>
          <a:xfrm>
            <a:off x="694775" y="1729050"/>
            <a:ext cx="4995000" cy="1685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100">
                <a:solidFill>
                  <a:schemeClr val="dk1"/>
                </a:solidFill>
                <a:latin typeface="Calibri"/>
                <a:ea typeface="Calibri"/>
                <a:cs typeface="Calibri"/>
                <a:sym typeface="Calibri"/>
              </a:rPr>
              <a:t>Un controlador de </a:t>
            </a:r>
            <a:r>
              <a:rPr lang="es" sz="2100">
                <a:solidFill>
                  <a:schemeClr val="dk1"/>
                </a:solidFill>
                <a:latin typeface="Calibri"/>
                <a:ea typeface="Calibri"/>
                <a:cs typeface="Calibri"/>
                <a:sym typeface="Calibri"/>
              </a:rPr>
              <a:t>admisión</a:t>
            </a:r>
            <a:r>
              <a:rPr lang="es" sz="2100">
                <a:solidFill>
                  <a:schemeClr val="dk1"/>
                </a:solidFill>
                <a:latin typeface="Calibri"/>
                <a:ea typeface="Calibri"/>
                <a:cs typeface="Calibri"/>
                <a:sym typeface="Calibri"/>
              </a:rPr>
              <a:t> es un fragmento de código que intercepta las solicitudes al servidor de API de Kubernetes antes de la persistencia del objeto, pero después de autenticar y autorizar la solicitud. </a:t>
            </a:r>
            <a:endParaRPr sz="2100">
              <a:solidFill>
                <a:schemeClr val="dk1"/>
              </a:solidFill>
              <a:latin typeface="Calibri"/>
              <a:ea typeface="Calibri"/>
              <a:cs typeface="Calibri"/>
              <a:sym typeface="Calibri"/>
            </a:endParaRPr>
          </a:p>
        </p:txBody>
      </p:sp>
      <p:sp>
        <p:nvSpPr>
          <p:cNvPr id="382" name="Google Shape;382;p43"/>
          <p:cNvSpPr txBox="1"/>
          <p:nvPr/>
        </p:nvSpPr>
        <p:spPr>
          <a:xfrm>
            <a:off x="5533465" y="4947292"/>
            <a:ext cx="3610535" cy="19620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https://kubernetes.io/docs/reference/access-authn-authz/admission-controllers/</a:t>
            </a:r>
            <a:endParaRPr sz="1100"/>
          </a:p>
        </p:txBody>
      </p:sp>
      <p:pic>
        <p:nvPicPr>
          <p:cNvPr id="383" name="Google Shape;383;p43"/>
          <p:cNvPicPr preferRelativeResize="0"/>
          <p:nvPr/>
        </p:nvPicPr>
        <p:blipFill>
          <a:blip r:embed="rId3">
            <a:alphaModFix/>
          </a:blip>
          <a:stretch>
            <a:fillRect/>
          </a:stretch>
        </p:blipFill>
        <p:spPr>
          <a:xfrm>
            <a:off x="5990512" y="1223525"/>
            <a:ext cx="2696451" cy="2696451"/>
          </a:xfrm>
          <a:prstGeom prst="rect">
            <a:avLst/>
          </a:prstGeom>
          <a:noFill/>
          <a:ln>
            <a:noFill/>
          </a:ln>
        </p:spPr>
      </p:pic>
      <p:pic>
        <p:nvPicPr>
          <p:cNvPr id="384" name="Google Shape;384;p43"/>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385" name="Google Shape;385;p43"/>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4"/>
          <p:cNvSpPr txBox="1"/>
          <p:nvPr/>
        </p:nvSpPr>
        <p:spPr>
          <a:xfrm>
            <a:off x="3798299" y="350050"/>
            <a:ext cx="1547400" cy="453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500">
                <a:solidFill>
                  <a:schemeClr val="dk1"/>
                </a:solidFill>
                <a:latin typeface="Calibri"/>
                <a:ea typeface="Calibri"/>
                <a:cs typeface="Calibri"/>
                <a:sym typeface="Calibri"/>
              </a:rPr>
              <a:t>Webhook</a:t>
            </a:r>
            <a:endParaRPr sz="2200"/>
          </a:p>
        </p:txBody>
      </p:sp>
      <p:sp>
        <p:nvSpPr>
          <p:cNvPr id="391" name="Google Shape;391;p44"/>
          <p:cNvSpPr txBox="1"/>
          <p:nvPr/>
        </p:nvSpPr>
        <p:spPr>
          <a:xfrm>
            <a:off x="4171225" y="1659756"/>
            <a:ext cx="4572000" cy="1824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900">
                <a:solidFill>
                  <a:schemeClr val="dk1"/>
                </a:solidFill>
                <a:latin typeface="Calibri"/>
                <a:ea typeface="Calibri"/>
                <a:cs typeface="Calibri"/>
                <a:sym typeface="Calibri"/>
              </a:rPr>
              <a:t>Un webhook, también denominado API inversa, se define como un tipo de sistema que comunica aplicaciones, informa sobre eventos e intercambia datos entre plataformas informáticas, aplicaciones web o sitios web, entre otros.</a:t>
            </a:r>
            <a:endParaRPr sz="1900">
              <a:solidFill>
                <a:schemeClr val="dk1"/>
              </a:solidFill>
              <a:latin typeface="Calibri"/>
              <a:ea typeface="Calibri"/>
              <a:cs typeface="Calibri"/>
              <a:sym typeface="Calibri"/>
            </a:endParaRPr>
          </a:p>
        </p:txBody>
      </p:sp>
      <p:sp>
        <p:nvSpPr>
          <p:cNvPr id="392" name="Google Shape;392;p44"/>
          <p:cNvSpPr txBox="1"/>
          <p:nvPr/>
        </p:nvSpPr>
        <p:spPr>
          <a:xfrm>
            <a:off x="6252882" y="4693377"/>
            <a:ext cx="28911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https://kubernetes.io/docs/reference/access-authn-authz/admission-controllers/</a:t>
            </a:r>
            <a:endParaRPr sz="1100"/>
          </a:p>
        </p:txBody>
      </p:sp>
      <p:pic>
        <p:nvPicPr>
          <p:cNvPr id="393" name="Google Shape;393;p44"/>
          <p:cNvPicPr preferRelativeResize="0"/>
          <p:nvPr/>
        </p:nvPicPr>
        <p:blipFill>
          <a:blip r:embed="rId3">
            <a:alphaModFix/>
          </a:blip>
          <a:stretch>
            <a:fillRect/>
          </a:stretch>
        </p:blipFill>
        <p:spPr>
          <a:xfrm rot="10800000">
            <a:off x="621000" y="1714500"/>
            <a:ext cx="3048000" cy="1714500"/>
          </a:xfrm>
          <a:prstGeom prst="rect">
            <a:avLst/>
          </a:prstGeom>
          <a:noFill/>
          <a:ln>
            <a:noFill/>
          </a:ln>
        </p:spPr>
      </p:pic>
      <p:pic>
        <p:nvPicPr>
          <p:cNvPr id="394" name="Google Shape;394;p44"/>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395" name="Google Shape;395;p44"/>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5"/>
          <p:cNvSpPr txBox="1"/>
          <p:nvPr/>
        </p:nvSpPr>
        <p:spPr>
          <a:xfrm>
            <a:off x="3530725" y="3079875"/>
            <a:ext cx="5368200" cy="160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000">
                <a:solidFill>
                  <a:schemeClr val="dk1"/>
                </a:solidFill>
                <a:latin typeface="Calibri"/>
                <a:ea typeface="Calibri"/>
                <a:cs typeface="Calibri"/>
                <a:sym typeface="Calibri"/>
              </a:rPr>
              <a:t>El servicio de análisis realiza análisis de vulnerabilidades en imágenes de Artifact Registry y Container Registry y, luego, almacena los metadatos resultantes y los pone a disposición para su consumo a través de una API. </a:t>
            </a:r>
            <a:endParaRPr sz="2000">
              <a:solidFill>
                <a:schemeClr val="dk1"/>
              </a:solidFill>
              <a:latin typeface="Calibri"/>
              <a:ea typeface="Calibri"/>
              <a:cs typeface="Calibri"/>
              <a:sym typeface="Calibri"/>
            </a:endParaRPr>
          </a:p>
        </p:txBody>
      </p:sp>
      <p:sp>
        <p:nvSpPr>
          <p:cNvPr id="401" name="Google Shape;401;p45"/>
          <p:cNvSpPr txBox="1"/>
          <p:nvPr/>
        </p:nvSpPr>
        <p:spPr>
          <a:xfrm>
            <a:off x="1781735" y="4947292"/>
            <a:ext cx="7523629" cy="19620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https://cloud.google.com/container-analysis/docs/container-analysis#:~:text=Container%20Analysis%20is%20a%20service,for%20consumption%20through%20an%20API.</a:t>
            </a:r>
            <a:endParaRPr sz="1100"/>
          </a:p>
        </p:txBody>
      </p:sp>
      <p:sp>
        <p:nvSpPr>
          <p:cNvPr id="402" name="Google Shape;402;p45"/>
          <p:cNvSpPr txBox="1"/>
          <p:nvPr/>
        </p:nvSpPr>
        <p:spPr>
          <a:xfrm>
            <a:off x="261350" y="707475"/>
            <a:ext cx="44571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Calibri"/>
                <a:ea typeface="Calibri"/>
                <a:cs typeface="Calibri"/>
                <a:sym typeface="Calibri"/>
              </a:rPr>
              <a:t>Container Analysis proporciona análisis de vulnerabilidades y almacenamiento de metadatos para contenedores a través de Container Analysis. </a:t>
            </a:r>
            <a:endParaRPr/>
          </a:p>
        </p:txBody>
      </p:sp>
      <p:pic>
        <p:nvPicPr>
          <p:cNvPr id="403" name="Google Shape;403;p45"/>
          <p:cNvPicPr preferRelativeResize="0"/>
          <p:nvPr/>
        </p:nvPicPr>
        <p:blipFill rotWithShape="1">
          <a:blip r:embed="rId3">
            <a:alphaModFix/>
          </a:blip>
          <a:srcRect b="12724" l="0" r="15668" t="0"/>
          <a:stretch/>
        </p:blipFill>
        <p:spPr>
          <a:xfrm>
            <a:off x="4849050" y="762250"/>
            <a:ext cx="3474975" cy="2190500"/>
          </a:xfrm>
          <a:prstGeom prst="rect">
            <a:avLst/>
          </a:prstGeom>
          <a:noFill/>
          <a:ln>
            <a:noFill/>
          </a:ln>
        </p:spPr>
      </p:pic>
      <p:pic>
        <p:nvPicPr>
          <p:cNvPr id="404" name="Google Shape;404;p45"/>
          <p:cNvPicPr preferRelativeResize="0"/>
          <p:nvPr/>
        </p:nvPicPr>
        <p:blipFill>
          <a:blip r:embed="rId4">
            <a:alphaModFix/>
          </a:blip>
          <a:stretch>
            <a:fillRect/>
          </a:stretch>
        </p:blipFill>
        <p:spPr>
          <a:xfrm>
            <a:off x="1133150" y="2885936"/>
            <a:ext cx="1996475" cy="1996475"/>
          </a:xfrm>
          <a:prstGeom prst="rect">
            <a:avLst/>
          </a:prstGeom>
          <a:noFill/>
          <a:ln>
            <a:noFill/>
          </a:ln>
        </p:spPr>
      </p:pic>
      <p:pic>
        <p:nvPicPr>
          <p:cNvPr id="405" name="Google Shape;405;p45"/>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406" name="Google Shape;406;p45"/>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6"/>
          <p:cNvSpPr txBox="1"/>
          <p:nvPr/>
        </p:nvSpPr>
        <p:spPr>
          <a:xfrm>
            <a:off x="3103350" y="508000"/>
            <a:ext cx="2937300" cy="453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500">
                <a:solidFill>
                  <a:schemeClr val="dk1"/>
                </a:solidFill>
                <a:latin typeface="Calibri"/>
                <a:ea typeface="Calibri"/>
                <a:cs typeface="Calibri"/>
                <a:sym typeface="Calibri"/>
              </a:rPr>
              <a:t>Vulnerability sources</a:t>
            </a:r>
            <a:endParaRPr sz="2500">
              <a:solidFill>
                <a:schemeClr val="dk1"/>
              </a:solidFill>
              <a:latin typeface="Calibri"/>
              <a:ea typeface="Calibri"/>
              <a:cs typeface="Calibri"/>
              <a:sym typeface="Calibri"/>
            </a:endParaRPr>
          </a:p>
        </p:txBody>
      </p:sp>
      <p:sp>
        <p:nvSpPr>
          <p:cNvPr id="412" name="Google Shape;412;p46"/>
          <p:cNvSpPr txBox="1"/>
          <p:nvPr/>
        </p:nvSpPr>
        <p:spPr>
          <a:xfrm>
            <a:off x="337800" y="1067925"/>
            <a:ext cx="8391000" cy="1062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900">
                <a:solidFill>
                  <a:schemeClr val="dk1"/>
                </a:solidFill>
                <a:latin typeface="Calibri"/>
                <a:ea typeface="Calibri"/>
                <a:cs typeface="Calibri"/>
                <a:sym typeface="Calibri"/>
              </a:rPr>
              <a:t>Tanto el análisis automatizado como el on demand admiten el análisis de vulnerabilidades de paquetes del sistema operativo para distribuciones de Linux y obtienen datos CVE de las siguientes fuentes:</a:t>
            </a:r>
            <a:endParaRPr/>
          </a:p>
        </p:txBody>
      </p:sp>
      <p:sp>
        <p:nvSpPr>
          <p:cNvPr id="413" name="Google Shape;413;p46"/>
          <p:cNvSpPr txBox="1"/>
          <p:nvPr/>
        </p:nvSpPr>
        <p:spPr>
          <a:xfrm>
            <a:off x="507175" y="2235950"/>
            <a:ext cx="5884500" cy="2801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Calibri"/>
              <a:buChar char="●"/>
            </a:pPr>
            <a:r>
              <a:rPr lang="es" sz="1700">
                <a:solidFill>
                  <a:schemeClr val="dk1"/>
                </a:solidFill>
                <a:latin typeface="Calibri"/>
                <a:ea typeface="Calibri"/>
                <a:cs typeface="Calibri"/>
                <a:sym typeface="Calibri"/>
              </a:rPr>
              <a:t>Debian Security Bug Tracker</a:t>
            </a:r>
            <a:endParaRPr sz="17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s" sz="1700">
                <a:solidFill>
                  <a:schemeClr val="dk1"/>
                </a:solidFill>
                <a:latin typeface="Calibri"/>
                <a:ea typeface="Calibri"/>
                <a:cs typeface="Calibri"/>
                <a:sym typeface="Calibri"/>
              </a:rPr>
              <a:t>Ubuntu CVE Tracker</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s" sz="1700">
                <a:solidFill>
                  <a:schemeClr val="dk1"/>
                </a:solidFill>
                <a:latin typeface="Calibri"/>
                <a:ea typeface="Calibri"/>
                <a:cs typeface="Calibri"/>
                <a:sym typeface="Calibri"/>
              </a:rPr>
              <a:t>Security DB Alpine Linux</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s" sz="1700">
                <a:solidFill>
                  <a:schemeClr val="dk1"/>
                </a:solidFill>
                <a:latin typeface="Calibri"/>
                <a:ea typeface="Calibri"/>
                <a:cs typeface="Calibri"/>
                <a:sym typeface="Calibri"/>
              </a:rPr>
              <a:t>Instituto Nacional de Estándares y Tecnología (EEUU) </a:t>
            </a:r>
            <a:r>
              <a:rPr lang="es" sz="1700">
                <a:solidFill>
                  <a:schemeClr val="dk1"/>
                </a:solidFill>
                <a:latin typeface="Calibri"/>
                <a:ea typeface="Calibri"/>
                <a:cs typeface="Calibri"/>
                <a:sym typeface="Calibri"/>
              </a:rPr>
              <a:t>NATIONAL VULNERABILITY DATABASE</a:t>
            </a:r>
            <a:endParaRPr sz="17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s" sz="1700">
                <a:solidFill>
                  <a:schemeClr val="dk1"/>
                </a:solidFill>
                <a:latin typeface="Calibri"/>
                <a:ea typeface="Calibri"/>
                <a:cs typeface="Calibri"/>
                <a:sym typeface="Calibri"/>
              </a:rPr>
              <a:t>Red Hat Product Security</a:t>
            </a:r>
            <a:endParaRPr sz="1200"/>
          </a:p>
        </p:txBody>
      </p:sp>
      <p:pic>
        <p:nvPicPr>
          <p:cNvPr id="414" name="Google Shape;414;p46"/>
          <p:cNvPicPr preferRelativeResize="0"/>
          <p:nvPr/>
        </p:nvPicPr>
        <p:blipFill>
          <a:blip r:embed="rId3">
            <a:alphaModFix/>
          </a:blip>
          <a:stretch>
            <a:fillRect/>
          </a:stretch>
        </p:blipFill>
        <p:spPr>
          <a:xfrm>
            <a:off x="3642650" y="2276775"/>
            <a:ext cx="689480" cy="387825"/>
          </a:xfrm>
          <a:prstGeom prst="rect">
            <a:avLst/>
          </a:prstGeom>
          <a:noFill/>
          <a:ln>
            <a:noFill/>
          </a:ln>
        </p:spPr>
      </p:pic>
      <p:pic>
        <p:nvPicPr>
          <p:cNvPr id="415" name="Google Shape;415;p46"/>
          <p:cNvPicPr preferRelativeResize="0"/>
          <p:nvPr/>
        </p:nvPicPr>
        <p:blipFill rotWithShape="1">
          <a:blip r:embed="rId4">
            <a:alphaModFix/>
          </a:blip>
          <a:srcRect b="43818" l="37290" r="39383" t="12416"/>
          <a:stretch/>
        </p:blipFill>
        <p:spPr>
          <a:xfrm>
            <a:off x="2859812" y="2774450"/>
            <a:ext cx="392776" cy="387825"/>
          </a:xfrm>
          <a:prstGeom prst="rect">
            <a:avLst/>
          </a:prstGeom>
          <a:noFill/>
          <a:ln>
            <a:noFill/>
          </a:ln>
        </p:spPr>
      </p:pic>
      <p:pic>
        <p:nvPicPr>
          <p:cNvPr id="416" name="Google Shape;416;p46"/>
          <p:cNvPicPr preferRelativeResize="0"/>
          <p:nvPr/>
        </p:nvPicPr>
        <p:blipFill>
          <a:blip r:embed="rId5">
            <a:alphaModFix/>
          </a:blip>
          <a:stretch>
            <a:fillRect/>
          </a:stretch>
        </p:blipFill>
        <p:spPr>
          <a:xfrm>
            <a:off x="3339525" y="3278900"/>
            <a:ext cx="453900" cy="453900"/>
          </a:xfrm>
          <a:prstGeom prst="rect">
            <a:avLst/>
          </a:prstGeom>
          <a:noFill/>
          <a:ln>
            <a:noFill/>
          </a:ln>
        </p:spPr>
      </p:pic>
      <p:pic>
        <p:nvPicPr>
          <p:cNvPr id="417" name="Google Shape;417;p46"/>
          <p:cNvPicPr preferRelativeResize="0"/>
          <p:nvPr/>
        </p:nvPicPr>
        <p:blipFill>
          <a:blip r:embed="rId6">
            <a:alphaModFix/>
          </a:blip>
          <a:stretch>
            <a:fillRect/>
          </a:stretch>
        </p:blipFill>
        <p:spPr>
          <a:xfrm>
            <a:off x="5903800" y="3969525"/>
            <a:ext cx="1530146" cy="387825"/>
          </a:xfrm>
          <a:prstGeom prst="rect">
            <a:avLst/>
          </a:prstGeom>
          <a:noFill/>
          <a:ln>
            <a:noFill/>
          </a:ln>
        </p:spPr>
      </p:pic>
      <p:pic>
        <p:nvPicPr>
          <p:cNvPr id="418" name="Google Shape;418;p46"/>
          <p:cNvPicPr preferRelativeResize="0"/>
          <p:nvPr/>
        </p:nvPicPr>
        <p:blipFill>
          <a:blip r:embed="rId7">
            <a:alphaModFix/>
          </a:blip>
          <a:stretch>
            <a:fillRect/>
          </a:stretch>
        </p:blipFill>
        <p:spPr>
          <a:xfrm>
            <a:off x="3311612" y="4591725"/>
            <a:ext cx="509736" cy="387824"/>
          </a:xfrm>
          <a:prstGeom prst="rect">
            <a:avLst/>
          </a:prstGeom>
          <a:noFill/>
          <a:ln>
            <a:noFill/>
          </a:ln>
        </p:spPr>
      </p:pic>
      <p:pic>
        <p:nvPicPr>
          <p:cNvPr id="419" name="Google Shape;419;p46"/>
          <p:cNvPicPr preferRelativeResize="0"/>
          <p:nvPr/>
        </p:nvPicPr>
        <p:blipFill>
          <a:blip r:embed="rId8">
            <a:alphaModFix/>
          </a:blip>
          <a:stretch>
            <a:fillRect/>
          </a:stretch>
        </p:blipFill>
        <p:spPr>
          <a:xfrm>
            <a:off x="6440900" y="117400"/>
            <a:ext cx="1986100" cy="488225"/>
          </a:xfrm>
          <a:prstGeom prst="rect">
            <a:avLst/>
          </a:prstGeom>
          <a:noFill/>
          <a:ln>
            <a:noFill/>
          </a:ln>
        </p:spPr>
      </p:pic>
      <p:pic>
        <p:nvPicPr>
          <p:cNvPr id="420" name="Google Shape;420;p46"/>
          <p:cNvPicPr preferRelativeResize="0"/>
          <p:nvPr/>
        </p:nvPicPr>
        <p:blipFill>
          <a:blip r:embed="rId9">
            <a:alphaModFix/>
          </a:blip>
          <a:stretch>
            <a:fillRect/>
          </a:stretch>
        </p:blipFill>
        <p:spPr>
          <a:xfrm>
            <a:off x="8420975" y="0"/>
            <a:ext cx="723026" cy="7230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47"/>
          <p:cNvPicPr preferRelativeResize="0"/>
          <p:nvPr/>
        </p:nvPicPr>
        <p:blipFill rotWithShape="1">
          <a:blip r:embed="rId3">
            <a:alphaModFix/>
          </a:blip>
          <a:srcRect b="32939" l="0" r="58081" t="0"/>
          <a:stretch/>
        </p:blipFill>
        <p:spPr>
          <a:xfrm>
            <a:off x="300713" y="126375"/>
            <a:ext cx="6276975" cy="4890750"/>
          </a:xfrm>
          <a:prstGeom prst="rect">
            <a:avLst/>
          </a:prstGeom>
          <a:noFill/>
          <a:ln>
            <a:noFill/>
          </a:ln>
        </p:spPr>
      </p:pic>
      <p:sp>
        <p:nvSpPr>
          <p:cNvPr id="426" name="Google Shape;426;p47"/>
          <p:cNvSpPr txBox="1"/>
          <p:nvPr/>
        </p:nvSpPr>
        <p:spPr>
          <a:xfrm>
            <a:off x="6953025" y="3750425"/>
            <a:ext cx="18171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50">
                <a:solidFill>
                  <a:schemeClr val="dk1"/>
                </a:solidFill>
                <a:highlight>
                  <a:srgbClr val="202124"/>
                </a:highlight>
              </a:rPr>
              <a:t> </a:t>
            </a:r>
            <a:r>
              <a:rPr b="1" lang="es" sz="1050">
                <a:solidFill>
                  <a:schemeClr val="dk1"/>
                </a:solidFill>
                <a:highlight>
                  <a:srgbClr val="202124"/>
                </a:highlight>
              </a:rPr>
              <a:t>Ubuntu 16.04</a:t>
            </a:r>
            <a:r>
              <a:rPr lang="es" sz="1050">
                <a:solidFill>
                  <a:schemeClr val="dk1"/>
                </a:solidFill>
                <a:highlight>
                  <a:srgbClr val="202124"/>
                </a:highlight>
              </a:rPr>
              <a:t> LTS (Xenial Xerus) was released on 21 April 2016 </a:t>
            </a:r>
            <a:endParaRPr>
              <a:solidFill>
                <a:schemeClr val="dk1"/>
              </a:solidFill>
            </a:endParaRPr>
          </a:p>
        </p:txBody>
      </p:sp>
      <p:pic>
        <p:nvPicPr>
          <p:cNvPr id="427" name="Google Shape;427;p47"/>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428" name="Google Shape;428;p47"/>
          <p:cNvPicPr preferRelativeResize="0"/>
          <p:nvPr/>
        </p:nvPicPr>
        <p:blipFill>
          <a:blip r:embed="rId5">
            <a:alphaModFix/>
          </a:blip>
          <a:stretch>
            <a:fillRect/>
          </a:stretch>
        </p:blipFill>
        <p:spPr>
          <a:xfrm>
            <a:off x="6440900" y="117400"/>
            <a:ext cx="1986100" cy="488225"/>
          </a:xfrm>
          <a:prstGeom prst="rect">
            <a:avLst/>
          </a:prstGeom>
          <a:noFill/>
          <a:ln>
            <a:noFill/>
          </a:ln>
        </p:spPr>
      </p:pic>
      <p:pic>
        <p:nvPicPr>
          <p:cNvPr id="429" name="Google Shape;429;p47"/>
          <p:cNvPicPr preferRelativeResize="0"/>
          <p:nvPr/>
        </p:nvPicPr>
        <p:blipFill>
          <a:blip r:embed="rId6">
            <a:alphaModFix/>
          </a:blip>
          <a:stretch>
            <a:fillRect/>
          </a:stretch>
        </p:blipFill>
        <p:spPr>
          <a:xfrm>
            <a:off x="7256732" y="2478345"/>
            <a:ext cx="1209676" cy="12097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48"/>
          <p:cNvPicPr preferRelativeResize="0"/>
          <p:nvPr/>
        </p:nvPicPr>
        <p:blipFill>
          <a:blip r:embed="rId3">
            <a:alphaModFix/>
          </a:blip>
          <a:stretch>
            <a:fillRect/>
          </a:stretch>
        </p:blipFill>
        <p:spPr>
          <a:xfrm>
            <a:off x="0" y="1132025"/>
            <a:ext cx="9144001" cy="2879457"/>
          </a:xfrm>
          <a:prstGeom prst="rect">
            <a:avLst/>
          </a:prstGeom>
          <a:noFill/>
          <a:ln>
            <a:noFill/>
          </a:ln>
        </p:spPr>
      </p:pic>
      <p:pic>
        <p:nvPicPr>
          <p:cNvPr id="435" name="Google Shape;435;p48"/>
          <p:cNvPicPr preferRelativeResize="0"/>
          <p:nvPr/>
        </p:nvPicPr>
        <p:blipFill>
          <a:blip r:embed="rId4">
            <a:alphaModFix/>
          </a:blip>
          <a:stretch>
            <a:fillRect/>
          </a:stretch>
        </p:blipFill>
        <p:spPr>
          <a:xfrm>
            <a:off x="5318325" y="2854300"/>
            <a:ext cx="2343775" cy="2343775"/>
          </a:xfrm>
          <a:prstGeom prst="rect">
            <a:avLst/>
          </a:prstGeom>
          <a:noFill/>
          <a:ln>
            <a:noFill/>
          </a:ln>
        </p:spPr>
      </p:pic>
      <p:pic>
        <p:nvPicPr>
          <p:cNvPr id="436" name="Google Shape;436;p48"/>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437" name="Google Shape;437;p48"/>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49"/>
          <p:cNvPicPr preferRelativeResize="0"/>
          <p:nvPr/>
        </p:nvPicPr>
        <p:blipFill rotWithShape="1">
          <a:blip r:embed="rId3">
            <a:alphaModFix/>
          </a:blip>
          <a:srcRect b="0" l="0" r="13419" t="0"/>
          <a:stretch/>
        </p:blipFill>
        <p:spPr>
          <a:xfrm>
            <a:off x="0" y="-76200"/>
            <a:ext cx="9279466" cy="5219700"/>
          </a:xfrm>
          <a:prstGeom prst="rect">
            <a:avLst/>
          </a:prstGeom>
          <a:noFill/>
          <a:ln>
            <a:noFill/>
          </a:ln>
        </p:spPr>
      </p:pic>
      <p:pic>
        <p:nvPicPr>
          <p:cNvPr id="443" name="Google Shape;443;p49"/>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444" name="Google Shape;444;p49"/>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0"/>
          <p:cNvSpPr txBox="1"/>
          <p:nvPr/>
        </p:nvSpPr>
        <p:spPr>
          <a:xfrm>
            <a:off x="498850" y="3386075"/>
            <a:ext cx="3537000" cy="1546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600">
                <a:solidFill>
                  <a:schemeClr val="dk1"/>
                </a:solidFill>
                <a:latin typeface="Calibri"/>
                <a:ea typeface="Calibri"/>
                <a:cs typeface="Calibri"/>
                <a:sym typeface="Calibri"/>
              </a:rPr>
              <a:t>La autorización binaria es un control de seguridad de tiempo de implementación que garantiza que solo se implementen imágenes de contenedor confiables en Google Kubernetes Engine (GKE) o Cloud Run. </a:t>
            </a:r>
            <a:endParaRPr sz="1600">
              <a:solidFill>
                <a:schemeClr val="dk1"/>
              </a:solidFill>
              <a:latin typeface="Calibri"/>
              <a:ea typeface="Calibri"/>
              <a:cs typeface="Calibri"/>
              <a:sym typeface="Calibri"/>
            </a:endParaRPr>
          </a:p>
        </p:txBody>
      </p:sp>
      <p:sp>
        <p:nvSpPr>
          <p:cNvPr id="450" name="Google Shape;450;p50"/>
          <p:cNvSpPr txBox="1"/>
          <p:nvPr/>
        </p:nvSpPr>
        <p:spPr>
          <a:xfrm>
            <a:off x="5102950" y="3386075"/>
            <a:ext cx="3537000" cy="1546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600">
                <a:solidFill>
                  <a:schemeClr val="dk1"/>
                </a:solidFill>
                <a:latin typeface="Calibri"/>
                <a:ea typeface="Calibri"/>
                <a:cs typeface="Calibri"/>
                <a:sym typeface="Calibri"/>
              </a:rPr>
              <a:t>Si aplicas esta validación, puedes ejercer más control sobre el entorno del contenedor, ya que te aseguras de que solo se integren las imágenes verificadas en el proceso de compilación y lanzamiento.</a:t>
            </a:r>
            <a:endParaRPr sz="1600">
              <a:solidFill>
                <a:schemeClr val="dk1"/>
              </a:solidFill>
              <a:latin typeface="Calibri"/>
              <a:ea typeface="Calibri"/>
              <a:cs typeface="Calibri"/>
              <a:sym typeface="Calibri"/>
            </a:endParaRPr>
          </a:p>
        </p:txBody>
      </p:sp>
      <p:sp>
        <p:nvSpPr>
          <p:cNvPr id="451" name="Google Shape;451;p50"/>
          <p:cNvSpPr txBox="1"/>
          <p:nvPr/>
        </p:nvSpPr>
        <p:spPr>
          <a:xfrm>
            <a:off x="6131859" y="4935751"/>
            <a:ext cx="4572000"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https://cloud.google.com/binary-authorization/docs/overview</a:t>
            </a:r>
            <a:endParaRPr sz="1100"/>
          </a:p>
        </p:txBody>
      </p:sp>
      <p:pic>
        <p:nvPicPr>
          <p:cNvPr id="452" name="Google Shape;452;p50"/>
          <p:cNvPicPr preferRelativeResize="0"/>
          <p:nvPr/>
        </p:nvPicPr>
        <p:blipFill>
          <a:blip r:embed="rId3">
            <a:alphaModFix/>
          </a:blip>
          <a:stretch>
            <a:fillRect/>
          </a:stretch>
        </p:blipFill>
        <p:spPr>
          <a:xfrm>
            <a:off x="152400" y="786111"/>
            <a:ext cx="8839200" cy="2393950"/>
          </a:xfrm>
          <a:prstGeom prst="rect">
            <a:avLst/>
          </a:prstGeom>
          <a:noFill/>
          <a:ln>
            <a:noFill/>
          </a:ln>
        </p:spPr>
      </p:pic>
      <p:pic>
        <p:nvPicPr>
          <p:cNvPr id="453" name="Google Shape;453;p50"/>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454" name="Google Shape;454;p50"/>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1"/>
          <p:cNvSpPr txBox="1"/>
          <p:nvPr/>
        </p:nvSpPr>
        <p:spPr>
          <a:xfrm>
            <a:off x="1414400" y="418050"/>
            <a:ext cx="64389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3000">
                <a:solidFill>
                  <a:schemeClr val="dk1"/>
                </a:solidFill>
                <a:latin typeface="Calibri"/>
                <a:ea typeface="Calibri"/>
                <a:cs typeface="Calibri"/>
                <a:sym typeface="Calibri"/>
              </a:rPr>
              <a:t>Crea una certificación con una clave almacenada de forma local</a:t>
            </a:r>
            <a:endParaRPr sz="3000">
              <a:solidFill>
                <a:schemeClr val="dk1"/>
              </a:solidFill>
              <a:latin typeface="Calibri"/>
              <a:ea typeface="Calibri"/>
              <a:cs typeface="Calibri"/>
              <a:sym typeface="Calibri"/>
            </a:endParaRPr>
          </a:p>
        </p:txBody>
      </p:sp>
      <p:sp>
        <p:nvSpPr>
          <p:cNvPr id="460" name="Google Shape;460;p51"/>
          <p:cNvSpPr txBox="1"/>
          <p:nvPr/>
        </p:nvSpPr>
        <p:spPr>
          <a:xfrm>
            <a:off x="1795400" y="1698200"/>
            <a:ext cx="531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2000">
                <a:solidFill>
                  <a:schemeClr val="dk1"/>
                </a:solidFill>
                <a:latin typeface="Calibri"/>
                <a:ea typeface="Calibri"/>
                <a:cs typeface="Calibri"/>
                <a:sym typeface="Calibri"/>
              </a:rPr>
              <a:t>Crear un archivo de firma de payloads</a:t>
            </a:r>
            <a:endParaRPr sz="2000">
              <a:solidFill>
                <a:schemeClr val="dk1"/>
              </a:solidFill>
              <a:latin typeface="Calibri"/>
              <a:ea typeface="Calibri"/>
              <a:cs typeface="Calibri"/>
              <a:sym typeface="Calibri"/>
            </a:endParaRPr>
          </a:p>
        </p:txBody>
      </p:sp>
      <p:sp>
        <p:nvSpPr>
          <p:cNvPr id="461" name="Google Shape;461;p51"/>
          <p:cNvSpPr txBox="1"/>
          <p:nvPr/>
        </p:nvSpPr>
        <p:spPr>
          <a:xfrm>
            <a:off x="1846175" y="2376250"/>
            <a:ext cx="6498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s" sz="1800">
                <a:solidFill>
                  <a:schemeClr val="dk1"/>
                </a:solidFill>
                <a:latin typeface="Calibri"/>
                <a:ea typeface="Calibri"/>
                <a:cs typeface="Calibri"/>
                <a:sym typeface="Calibri"/>
              </a:rPr>
              <a:t>Firmar el archivo de payload con tu llave privada para crear un archivo de firma</a:t>
            </a:r>
            <a:endParaRPr/>
          </a:p>
        </p:txBody>
      </p:sp>
      <p:sp>
        <p:nvSpPr>
          <p:cNvPr id="462" name="Google Shape;462;p51"/>
          <p:cNvSpPr txBox="1"/>
          <p:nvPr/>
        </p:nvSpPr>
        <p:spPr>
          <a:xfrm>
            <a:off x="1846175" y="32613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Calibri"/>
                <a:ea typeface="Calibri"/>
                <a:cs typeface="Calibri"/>
                <a:sym typeface="Calibri"/>
              </a:rPr>
              <a:t>Obtén el ID de clave pública.</a:t>
            </a:r>
            <a:endParaRPr>
              <a:solidFill>
                <a:schemeClr val="dk1"/>
              </a:solidFill>
            </a:endParaRPr>
          </a:p>
        </p:txBody>
      </p:sp>
      <p:sp>
        <p:nvSpPr>
          <p:cNvPr id="463" name="Google Shape;463;p51"/>
          <p:cNvSpPr txBox="1"/>
          <p:nvPr/>
        </p:nvSpPr>
        <p:spPr>
          <a:xfrm>
            <a:off x="1846175" y="40511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Calibri"/>
                <a:ea typeface="Calibri"/>
                <a:cs typeface="Calibri"/>
                <a:sym typeface="Calibri"/>
              </a:rPr>
              <a:t>Cree la certificación</a:t>
            </a:r>
            <a:endParaRPr>
              <a:solidFill>
                <a:schemeClr val="dk1"/>
              </a:solidFill>
            </a:endParaRPr>
          </a:p>
        </p:txBody>
      </p:sp>
      <p:sp>
        <p:nvSpPr>
          <p:cNvPr id="464" name="Google Shape;464;p51"/>
          <p:cNvSpPr txBox="1"/>
          <p:nvPr/>
        </p:nvSpPr>
        <p:spPr>
          <a:xfrm>
            <a:off x="5814802" y="4927909"/>
            <a:ext cx="4572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https://cloud.google.com/binary-authorization/docs/making-attestations</a:t>
            </a:r>
            <a:endParaRPr sz="1100"/>
          </a:p>
        </p:txBody>
      </p:sp>
      <p:pic>
        <p:nvPicPr>
          <p:cNvPr id="465" name="Google Shape;465;p51"/>
          <p:cNvPicPr preferRelativeResize="0"/>
          <p:nvPr/>
        </p:nvPicPr>
        <p:blipFill>
          <a:blip r:embed="rId3">
            <a:alphaModFix/>
          </a:blip>
          <a:stretch>
            <a:fillRect/>
          </a:stretch>
        </p:blipFill>
        <p:spPr>
          <a:xfrm>
            <a:off x="907150" y="1558538"/>
            <a:ext cx="708474" cy="708474"/>
          </a:xfrm>
          <a:prstGeom prst="rect">
            <a:avLst/>
          </a:prstGeom>
          <a:noFill/>
          <a:ln>
            <a:noFill/>
          </a:ln>
        </p:spPr>
      </p:pic>
      <p:pic>
        <p:nvPicPr>
          <p:cNvPr id="466" name="Google Shape;466;p51"/>
          <p:cNvPicPr preferRelativeResize="0"/>
          <p:nvPr/>
        </p:nvPicPr>
        <p:blipFill>
          <a:blip r:embed="rId3">
            <a:alphaModFix/>
          </a:blip>
          <a:stretch>
            <a:fillRect/>
          </a:stretch>
        </p:blipFill>
        <p:spPr>
          <a:xfrm>
            <a:off x="907150" y="2348263"/>
            <a:ext cx="708474" cy="708474"/>
          </a:xfrm>
          <a:prstGeom prst="rect">
            <a:avLst/>
          </a:prstGeom>
          <a:noFill/>
          <a:ln>
            <a:noFill/>
          </a:ln>
        </p:spPr>
      </p:pic>
      <p:pic>
        <p:nvPicPr>
          <p:cNvPr id="467" name="Google Shape;467;p51"/>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468" name="Google Shape;468;p51"/>
          <p:cNvPicPr preferRelativeResize="0"/>
          <p:nvPr/>
        </p:nvPicPr>
        <p:blipFill>
          <a:blip r:embed="rId3">
            <a:alphaModFix/>
          </a:blip>
          <a:stretch>
            <a:fillRect/>
          </a:stretch>
        </p:blipFill>
        <p:spPr>
          <a:xfrm>
            <a:off x="907150" y="3137988"/>
            <a:ext cx="708474" cy="708474"/>
          </a:xfrm>
          <a:prstGeom prst="rect">
            <a:avLst/>
          </a:prstGeom>
          <a:noFill/>
          <a:ln>
            <a:noFill/>
          </a:ln>
        </p:spPr>
      </p:pic>
      <p:pic>
        <p:nvPicPr>
          <p:cNvPr id="469" name="Google Shape;469;p51"/>
          <p:cNvPicPr preferRelativeResize="0"/>
          <p:nvPr/>
        </p:nvPicPr>
        <p:blipFill>
          <a:blip r:embed="rId3">
            <a:alphaModFix/>
          </a:blip>
          <a:stretch>
            <a:fillRect/>
          </a:stretch>
        </p:blipFill>
        <p:spPr>
          <a:xfrm>
            <a:off x="907150" y="3927713"/>
            <a:ext cx="708474" cy="708474"/>
          </a:xfrm>
          <a:prstGeom prst="rect">
            <a:avLst/>
          </a:prstGeom>
          <a:noFill/>
          <a:ln>
            <a:noFill/>
          </a:ln>
        </p:spPr>
      </p:pic>
      <p:pic>
        <p:nvPicPr>
          <p:cNvPr id="470" name="Google Shape;470;p51"/>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2"/>
          <p:cNvSpPr txBox="1"/>
          <p:nvPr/>
        </p:nvSpPr>
        <p:spPr>
          <a:xfrm>
            <a:off x="2481450" y="772400"/>
            <a:ext cx="41811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3000">
                <a:solidFill>
                  <a:schemeClr val="dk1"/>
                </a:solidFill>
                <a:latin typeface="Calibri"/>
                <a:ea typeface="Calibri"/>
                <a:cs typeface="Calibri"/>
                <a:sym typeface="Calibri"/>
              </a:rPr>
              <a:t>Crea una certificación con Cloud KMS</a:t>
            </a:r>
            <a:endParaRPr sz="2400">
              <a:solidFill>
                <a:schemeClr val="dk1"/>
              </a:solidFill>
            </a:endParaRPr>
          </a:p>
        </p:txBody>
      </p:sp>
      <p:sp>
        <p:nvSpPr>
          <p:cNvPr id="476" name="Google Shape;476;p52"/>
          <p:cNvSpPr txBox="1"/>
          <p:nvPr/>
        </p:nvSpPr>
        <p:spPr>
          <a:xfrm>
            <a:off x="3269400" y="295902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Calibri"/>
                <a:ea typeface="Calibri"/>
                <a:cs typeface="Calibri"/>
                <a:sym typeface="Calibri"/>
              </a:rPr>
              <a:t>Firma y crea la certificación</a:t>
            </a:r>
            <a:endParaRPr>
              <a:solidFill>
                <a:schemeClr val="dk1"/>
              </a:solidFill>
            </a:endParaRPr>
          </a:p>
        </p:txBody>
      </p:sp>
      <p:sp>
        <p:nvSpPr>
          <p:cNvPr id="477" name="Google Shape;477;p52"/>
          <p:cNvSpPr txBox="1"/>
          <p:nvPr/>
        </p:nvSpPr>
        <p:spPr>
          <a:xfrm>
            <a:off x="5814802" y="4927909"/>
            <a:ext cx="4572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https://cloud.google.com/binary-authorization/docs/making-attestations</a:t>
            </a:r>
            <a:endParaRPr sz="1100"/>
          </a:p>
        </p:txBody>
      </p:sp>
      <p:pic>
        <p:nvPicPr>
          <p:cNvPr id="478" name="Google Shape;478;p52"/>
          <p:cNvPicPr preferRelativeResize="0"/>
          <p:nvPr/>
        </p:nvPicPr>
        <p:blipFill>
          <a:blip r:embed="rId3">
            <a:alphaModFix/>
          </a:blip>
          <a:stretch>
            <a:fillRect/>
          </a:stretch>
        </p:blipFill>
        <p:spPr>
          <a:xfrm>
            <a:off x="2144575" y="2800263"/>
            <a:ext cx="708474" cy="708474"/>
          </a:xfrm>
          <a:prstGeom prst="rect">
            <a:avLst/>
          </a:prstGeom>
          <a:noFill/>
          <a:ln>
            <a:noFill/>
          </a:ln>
        </p:spPr>
      </p:pic>
      <p:pic>
        <p:nvPicPr>
          <p:cNvPr id="479" name="Google Shape;479;p52"/>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480" name="Google Shape;480;p52"/>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3"/>
          <p:cNvSpPr txBox="1"/>
          <p:nvPr/>
        </p:nvSpPr>
        <p:spPr>
          <a:xfrm>
            <a:off x="338438" y="1925260"/>
            <a:ext cx="27789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3600">
                <a:solidFill>
                  <a:schemeClr val="dk1"/>
                </a:solidFill>
              </a:rPr>
              <a:t>Managed </a:t>
            </a:r>
            <a:endParaRPr sz="3600">
              <a:solidFill>
                <a:schemeClr val="dk1"/>
              </a:solidFill>
            </a:endParaRPr>
          </a:p>
          <a:p>
            <a:pPr indent="0" lvl="0" marL="0" rtl="0" algn="ctr">
              <a:spcBef>
                <a:spcPts val="0"/>
              </a:spcBef>
              <a:spcAft>
                <a:spcPts val="0"/>
              </a:spcAft>
              <a:buNone/>
            </a:pPr>
            <a:r>
              <a:rPr lang="es" sz="3600">
                <a:solidFill>
                  <a:schemeClr val="dk1"/>
                </a:solidFill>
              </a:rPr>
              <a:t>Service</a:t>
            </a:r>
            <a:endParaRPr sz="3600">
              <a:solidFill>
                <a:schemeClr val="dk1"/>
              </a:solidFill>
            </a:endParaRPr>
          </a:p>
        </p:txBody>
      </p:sp>
      <p:sp>
        <p:nvSpPr>
          <p:cNvPr id="486" name="Google Shape;486;p53"/>
          <p:cNvSpPr txBox="1"/>
          <p:nvPr/>
        </p:nvSpPr>
        <p:spPr>
          <a:xfrm>
            <a:off x="6604163" y="1648210"/>
            <a:ext cx="2201400" cy="184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3600">
                <a:solidFill>
                  <a:schemeClr val="dk1"/>
                </a:solidFill>
              </a:rPr>
              <a:t>Self</a:t>
            </a:r>
            <a:endParaRPr sz="3600">
              <a:solidFill>
                <a:schemeClr val="dk1"/>
              </a:solidFill>
            </a:endParaRPr>
          </a:p>
          <a:p>
            <a:pPr indent="0" lvl="0" marL="0" rtl="0" algn="ctr">
              <a:spcBef>
                <a:spcPts val="0"/>
              </a:spcBef>
              <a:spcAft>
                <a:spcPts val="0"/>
              </a:spcAft>
              <a:buNone/>
            </a:pPr>
            <a:r>
              <a:rPr lang="es" sz="3600">
                <a:solidFill>
                  <a:schemeClr val="dk1"/>
                </a:solidFill>
              </a:rPr>
              <a:t>m</a:t>
            </a:r>
            <a:r>
              <a:rPr lang="es" sz="3600">
                <a:solidFill>
                  <a:schemeClr val="dk1"/>
                </a:solidFill>
              </a:rPr>
              <a:t>anaged </a:t>
            </a:r>
            <a:endParaRPr sz="3600">
              <a:solidFill>
                <a:schemeClr val="dk1"/>
              </a:solidFill>
            </a:endParaRPr>
          </a:p>
          <a:p>
            <a:pPr indent="0" lvl="0" marL="0" rtl="0" algn="ctr">
              <a:spcBef>
                <a:spcPts val="0"/>
              </a:spcBef>
              <a:spcAft>
                <a:spcPts val="0"/>
              </a:spcAft>
              <a:buNone/>
            </a:pPr>
            <a:r>
              <a:rPr lang="es" sz="3600">
                <a:solidFill>
                  <a:schemeClr val="dk1"/>
                </a:solidFill>
              </a:rPr>
              <a:t>Service</a:t>
            </a:r>
            <a:endParaRPr sz="3600">
              <a:solidFill>
                <a:schemeClr val="dk1"/>
              </a:solidFill>
            </a:endParaRPr>
          </a:p>
        </p:txBody>
      </p:sp>
      <p:pic>
        <p:nvPicPr>
          <p:cNvPr id="487" name="Google Shape;487;p53"/>
          <p:cNvPicPr preferRelativeResize="0"/>
          <p:nvPr/>
        </p:nvPicPr>
        <p:blipFill>
          <a:blip r:embed="rId3">
            <a:alphaModFix/>
          </a:blip>
          <a:stretch>
            <a:fillRect/>
          </a:stretch>
        </p:blipFill>
        <p:spPr>
          <a:xfrm>
            <a:off x="2986137" y="676772"/>
            <a:ext cx="3356475" cy="3789975"/>
          </a:xfrm>
          <a:prstGeom prst="rect">
            <a:avLst/>
          </a:prstGeom>
          <a:noFill/>
          <a:ln>
            <a:noFill/>
          </a:ln>
        </p:spPr>
      </p:pic>
      <p:pic>
        <p:nvPicPr>
          <p:cNvPr id="488" name="Google Shape;488;p53"/>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489" name="Google Shape;489;p53"/>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4"/>
          <p:cNvSpPr txBox="1"/>
          <p:nvPr/>
        </p:nvSpPr>
        <p:spPr>
          <a:xfrm>
            <a:off x="2481463" y="558100"/>
            <a:ext cx="4181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3000">
                <a:solidFill>
                  <a:schemeClr val="dk1"/>
                </a:solidFill>
                <a:latin typeface="Calibri"/>
                <a:ea typeface="Calibri"/>
                <a:cs typeface="Calibri"/>
                <a:sym typeface="Calibri"/>
              </a:rPr>
              <a:t>Software Delivery Shield</a:t>
            </a:r>
            <a:endParaRPr sz="2400">
              <a:solidFill>
                <a:schemeClr val="dk1"/>
              </a:solidFill>
            </a:endParaRPr>
          </a:p>
        </p:txBody>
      </p:sp>
      <p:pic>
        <p:nvPicPr>
          <p:cNvPr id="495" name="Google Shape;495;p54"/>
          <p:cNvPicPr preferRelativeResize="0"/>
          <p:nvPr/>
        </p:nvPicPr>
        <p:blipFill>
          <a:blip r:embed="rId3">
            <a:alphaModFix/>
          </a:blip>
          <a:stretch>
            <a:fillRect/>
          </a:stretch>
        </p:blipFill>
        <p:spPr>
          <a:xfrm>
            <a:off x="399125" y="2185400"/>
            <a:ext cx="8345736" cy="2958100"/>
          </a:xfrm>
          <a:prstGeom prst="rect">
            <a:avLst/>
          </a:prstGeom>
          <a:noFill/>
          <a:ln>
            <a:noFill/>
          </a:ln>
        </p:spPr>
      </p:pic>
      <p:sp>
        <p:nvSpPr>
          <p:cNvPr id="496" name="Google Shape;496;p54"/>
          <p:cNvSpPr txBox="1"/>
          <p:nvPr/>
        </p:nvSpPr>
        <p:spPr>
          <a:xfrm>
            <a:off x="399150" y="1113125"/>
            <a:ext cx="8345700" cy="132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200">
                <a:solidFill>
                  <a:schemeClr val="dk1"/>
                </a:solidFill>
                <a:latin typeface="Calibri"/>
                <a:ea typeface="Calibri"/>
                <a:cs typeface="Calibri"/>
                <a:sym typeface="Calibri"/>
              </a:rPr>
              <a:t>Solución de seguridad de la cadena de suministro de software completamente administrada</a:t>
            </a:r>
            <a:endParaRPr sz="1600">
              <a:solidFill>
                <a:schemeClr val="dk1"/>
              </a:solidFill>
            </a:endParaRPr>
          </a:p>
          <a:p>
            <a:pPr indent="0" lvl="0" marL="0" rtl="0" algn="ctr">
              <a:spcBef>
                <a:spcPts val="0"/>
              </a:spcBef>
              <a:spcAft>
                <a:spcPts val="0"/>
              </a:spcAft>
              <a:buNone/>
            </a:pPr>
            <a:r>
              <a:t/>
            </a:r>
            <a:endParaRPr sz="3000">
              <a:solidFill>
                <a:schemeClr val="dk1"/>
              </a:solidFill>
              <a:latin typeface="Calibri"/>
              <a:ea typeface="Calibri"/>
              <a:cs typeface="Calibri"/>
              <a:sym typeface="Calibri"/>
            </a:endParaRPr>
          </a:p>
        </p:txBody>
      </p:sp>
      <p:pic>
        <p:nvPicPr>
          <p:cNvPr id="497" name="Google Shape;497;p54"/>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498" name="Google Shape;498;p54"/>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pic>
        <p:nvPicPr>
          <p:cNvPr id="503" name="Google Shape;503;p55"/>
          <p:cNvPicPr preferRelativeResize="0"/>
          <p:nvPr/>
        </p:nvPicPr>
        <p:blipFill>
          <a:blip r:embed="rId3">
            <a:alphaModFix/>
          </a:blip>
          <a:stretch>
            <a:fillRect/>
          </a:stretch>
        </p:blipFill>
        <p:spPr>
          <a:xfrm>
            <a:off x="567601" y="204325"/>
            <a:ext cx="1636250" cy="1636250"/>
          </a:xfrm>
          <a:prstGeom prst="rect">
            <a:avLst/>
          </a:prstGeom>
          <a:noFill/>
          <a:ln>
            <a:noFill/>
          </a:ln>
        </p:spPr>
      </p:pic>
      <p:pic>
        <p:nvPicPr>
          <p:cNvPr id="504" name="Google Shape;504;p55"/>
          <p:cNvPicPr preferRelativeResize="0"/>
          <p:nvPr/>
        </p:nvPicPr>
        <p:blipFill>
          <a:blip r:embed="rId4">
            <a:alphaModFix/>
          </a:blip>
          <a:stretch>
            <a:fillRect/>
          </a:stretch>
        </p:blipFill>
        <p:spPr>
          <a:xfrm>
            <a:off x="887175" y="1121724"/>
            <a:ext cx="997099" cy="997099"/>
          </a:xfrm>
          <a:prstGeom prst="rect">
            <a:avLst/>
          </a:prstGeom>
          <a:noFill/>
          <a:ln>
            <a:noFill/>
          </a:ln>
        </p:spPr>
      </p:pic>
      <p:sp>
        <p:nvSpPr>
          <p:cNvPr id="505" name="Google Shape;505;p55"/>
          <p:cNvSpPr txBox="1"/>
          <p:nvPr/>
        </p:nvSpPr>
        <p:spPr>
          <a:xfrm>
            <a:off x="2929050" y="1492350"/>
            <a:ext cx="5669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Calibri"/>
                <a:ea typeface="Calibri"/>
                <a:cs typeface="Calibri"/>
                <a:sym typeface="Calibri"/>
              </a:rPr>
              <a:t>Entornos de desarrollo totalmente gestionados creados para satisfacer las necesidades de las empresas sensibles a la seguridad. mejora la seguridad de los entornos de desarrollo mientras acelerar la incorporación y la productividad de los desarrolladores. </a:t>
            </a:r>
            <a:endParaRPr>
              <a:solidFill>
                <a:schemeClr val="dk1"/>
              </a:solidFill>
              <a:latin typeface="Calibri"/>
              <a:ea typeface="Calibri"/>
              <a:cs typeface="Calibri"/>
              <a:sym typeface="Calibri"/>
            </a:endParaRPr>
          </a:p>
        </p:txBody>
      </p:sp>
      <p:sp>
        <p:nvSpPr>
          <p:cNvPr id="506" name="Google Shape;506;p55"/>
          <p:cNvSpPr txBox="1"/>
          <p:nvPr/>
        </p:nvSpPr>
        <p:spPr>
          <a:xfrm>
            <a:off x="615300" y="2909675"/>
            <a:ext cx="7913400" cy="1639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400"/>
              </a:spcBef>
              <a:spcAft>
                <a:spcPts val="0"/>
              </a:spcAft>
              <a:buClr>
                <a:schemeClr val="dk1"/>
              </a:buClr>
              <a:buSzPts val="1100"/>
              <a:buFont typeface="Calibri"/>
              <a:buChar char="●"/>
            </a:pPr>
            <a:r>
              <a:rPr lang="es">
                <a:solidFill>
                  <a:schemeClr val="dk1"/>
                </a:solidFill>
                <a:latin typeface="Calibri"/>
                <a:ea typeface="Calibri"/>
                <a:cs typeface="Calibri"/>
                <a:sym typeface="Calibri"/>
              </a:rPr>
              <a:t>Acceda a entornos de desarrollo rápidos y seguros en cualquier momento a través del navegador o IDE local</a:t>
            </a: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s">
                <a:solidFill>
                  <a:schemeClr val="dk1"/>
                </a:solidFill>
                <a:latin typeface="Calibri"/>
                <a:ea typeface="Calibri"/>
                <a:cs typeface="Calibri"/>
                <a:sym typeface="Calibri"/>
              </a:rPr>
              <a:t>Permita que los administradores aprovisionen, escalen, gestionen y protejan los entornos de desarrollo</a:t>
            </a: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s">
                <a:solidFill>
                  <a:schemeClr val="dk1"/>
                </a:solidFill>
                <a:latin typeface="Calibri"/>
                <a:ea typeface="Calibri"/>
                <a:cs typeface="Calibri"/>
                <a:sym typeface="Calibri"/>
              </a:rPr>
              <a:t>Personalice los entornos de desarrollo con su IDE preferido y a través de imágenes de contenedores personalizados</a:t>
            </a:r>
            <a:endParaRPr>
              <a:solidFill>
                <a:schemeClr val="dk1"/>
              </a:solidFill>
              <a:latin typeface="Calibri"/>
              <a:ea typeface="Calibri"/>
              <a:cs typeface="Calibri"/>
              <a:sym typeface="Calibri"/>
            </a:endParaRPr>
          </a:p>
        </p:txBody>
      </p:sp>
      <p:sp>
        <p:nvSpPr>
          <p:cNvPr id="507" name="Google Shape;507;p55"/>
          <p:cNvSpPr txBox="1"/>
          <p:nvPr/>
        </p:nvSpPr>
        <p:spPr>
          <a:xfrm>
            <a:off x="2999988" y="627625"/>
            <a:ext cx="41811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600"/>
              </a:spcAft>
              <a:buNone/>
            </a:pPr>
            <a:r>
              <a:rPr b="1" lang="es" sz="2300">
                <a:solidFill>
                  <a:schemeClr val="dk1"/>
                </a:solidFill>
              </a:rPr>
              <a:t>Cloud Workstations </a:t>
            </a:r>
            <a:r>
              <a:rPr b="1" baseline="30000" lang="es" sz="2300">
                <a:solidFill>
                  <a:schemeClr val="dk1"/>
                </a:solidFill>
              </a:rPr>
              <a:t>Preview</a:t>
            </a:r>
            <a:endParaRPr sz="3000">
              <a:solidFill>
                <a:schemeClr val="dk1"/>
              </a:solidFill>
              <a:latin typeface="Calibri"/>
              <a:ea typeface="Calibri"/>
              <a:cs typeface="Calibri"/>
              <a:sym typeface="Calibri"/>
            </a:endParaRPr>
          </a:p>
        </p:txBody>
      </p:sp>
      <p:pic>
        <p:nvPicPr>
          <p:cNvPr id="508" name="Google Shape;508;p55"/>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509" name="Google Shape;509;p55"/>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6"/>
          <p:cNvSpPr txBox="1"/>
          <p:nvPr/>
        </p:nvSpPr>
        <p:spPr>
          <a:xfrm>
            <a:off x="2387550" y="475225"/>
            <a:ext cx="58482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600"/>
              </a:spcAft>
              <a:buNone/>
            </a:pPr>
            <a:r>
              <a:rPr b="1" lang="es" sz="2300">
                <a:solidFill>
                  <a:schemeClr val="dk1"/>
                </a:solidFill>
              </a:rPr>
              <a:t>Assured Open Source Software </a:t>
            </a:r>
            <a:r>
              <a:rPr b="1" baseline="30000" lang="es" sz="2300">
                <a:solidFill>
                  <a:schemeClr val="dk1"/>
                </a:solidFill>
              </a:rPr>
              <a:t>Preview</a:t>
            </a:r>
            <a:endParaRPr b="1" sz="2300">
              <a:solidFill>
                <a:schemeClr val="dk1"/>
              </a:solidFill>
            </a:endParaRPr>
          </a:p>
        </p:txBody>
      </p:sp>
      <p:pic>
        <p:nvPicPr>
          <p:cNvPr id="515" name="Google Shape;515;p56"/>
          <p:cNvPicPr preferRelativeResize="0"/>
          <p:nvPr/>
        </p:nvPicPr>
        <p:blipFill>
          <a:blip r:embed="rId3">
            <a:alphaModFix/>
          </a:blip>
          <a:stretch>
            <a:fillRect/>
          </a:stretch>
        </p:blipFill>
        <p:spPr>
          <a:xfrm>
            <a:off x="514750" y="605625"/>
            <a:ext cx="1524000" cy="1476375"/>
          </a:xfrm>
          <a:prstGeom prst="rect">
            <a:avLst/>
          </a:prstGeom>
          <a:noFill/>
          <a:ln>
            <a:noFill/>
          </a:ln>
        </p:spPr>
      </p:pic>
      <p:sp>
        <p:nvSpPr>
          <p:cNvPr id="516" name="Google Shape;516;p56"/>
          <p:cNvSpPr txBox="1"/>
          <p:nvPr/>
        </p:nvSpPr>
        <p:spPr>
          <a:xfrm>
            <a:off x="2244600" y="1127350"/>
            <a:ext cx="5376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latin typeface="Calibri"/>
                <a:ea typeface="Calibri"/>
                <a:cs typeface="Calibri"/>
                <a:sym typeface="Calibri"/>
              </a:rPr>
              <a:t>Mejore la seguridad de su cadena de suministro de software incorporando el mismo software de código abierto de confianza (OSS) paquetes que utiliza Google en su propio desarrollador flujos de trabajo. </a:t>
            </a:r>
            <a:endParaRPr>
              <a:solidFill>
                <a:schemeClr val="dk1"/>
              </a:solidFill>
              <a:latin typeface="Calibri"/>
              <a:ea typeface="Calibri"/>
              <a:cs typeface="Calibri"/>
              <a:sym typeface="Calibri"/>
            </a:endParaRPr>
          </a:p>
        </p:txBody>
      </p:sp>
      <p:sp>
        <p:nvSpPr>
          <p:cNvPr id="517" name="Google Shape;517;p56"/>
          <p:cNvSpPr txBox="1"/>
          <p:nvPr/>
        </p:nvSpPr>
        <p:spPr>
          <a:xfrm>
            <a:off x="0" y="2244625"/>
            <a:ext cx="8889900" cy="2630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400"/>
              </a:spcBef>
              <a:spcAft>
                <a:spcPts val="0"/>
              </a:spcAft>
              <a:buClr>
                <a:schemeClr val="dk1"/>
              </a:buClr>
              <a:buSzPts val="1100"/>
              <a:buFont typeface="Calibri"/>
              <a:buChar char="●"/>
            </a:pPr>
            <a:r>
              <a:rPr lang="es">
                <a:solidFill>
                  <a:schemeClr val="dk1"/>
                </a:solidFill>
                <a:latin typeface="Calibri"/>
                <a:ea typeface="Calibri"/>
                <a:cs typeface="Calibri"/>
                <a:sym typeface="Calibri"/>
              </a:rPr>
              <a:t>Benefíciese de las pruebas de código OSS de Google y procesos de gestión de vulnerabilidades</a:t>
            </a:r>
            <a:br>
              <a:rPr lang="e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s">
                <a:solidFill>
                  <a:schemeClr val="dk1"/>
                </a:solidFill>
                <a:latin typeface="Calibri"/>
                <a:ea typeface="Calibri"/>
                <a:cs typeface="Calibri"/>
                <a:sym typeface="Calibri"/>
              </a:rPr>
              <a:t>Aumente la confianza en la procedencia del código OSS</a:t>
            </a:r>
            <a:br>
              <a:rPr lang="e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s">
                <a:solidFill>
                  <a:schemeClr val="dk1"/>
                </a:solidFill>
                <a:latin typeface="Calibri"/>
                <a:ea typeface="Calibri"/>
                <a:cs typeface="Calibri"/>
                <a:sym typeface="Calibri"/>
              </a:rPr>
              <a:t>Obtenga sus paquetes OSS de una fuente confiable</a:t>
            </a:r>
            <a:br>
              <a:rPr lang="e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s">
                <a:solidFill>
                  <a:schemeClr val="dk1"/>
                </a:solidFill>
                <a:latin typeface="Calibri"/>
                <a:ea typeface="Calibri"/>
                <a:cs typeface="Calibri"/>
                <a:sym typeface="Calibri"/>
              </a:rPr>
              <a:t>Aproveche el SBOM asegurado que acompaña a cada paquete</a:t>
            </a:r>
            <a:br>
              <a:rPr lang="e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s">
                <a:solidFill>
                  <a:schemeClr val="dk1"/>
                </a:solidFill>
                <a:latin typeface="Calibri"/>
                <a:ea typeface="Calibri"/>
                <a:cs typeface="Calibri"/>
                <a:sym typeface="Calibri"/>
              </a:rPr>
              <a:t>Elija entre más de 250 Java y Python seleccionados paquetes</a:t>
            </a:r>
            <a:br>
              <a:rPr lang="es">
                <a:solidFill>
                  <a:schemeClr val="dk1"/>
                </a:solidFill>
              </a:rPr>
            </a:br>
            <a:endParaRPr>
              <a:solidFill>
                <a:schemeClr val="dk1"/>
              </a:solidFill>
            </a:endParaRPr>
          </a:p>
        </p:txBody>
      </p:sp>
      <p:pic>
        <p:nvPicPr>
          <p:cNvPr id="518" name="Google Shape;518;p56"/>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519" name="Google Shape;519;p56"/>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id="524" name="Google Shape;524;p57"/>
          <p:cNvPicPr preferRelativeResize="0"/>
          <p:nvPr/>
        </p:nvPicPr>
        <p:blipFill>
          <a:blip r:embed="rId3">
            <a:alphaModFix/>
          </a:blip>
          <a:stretch>
            <a:fillRect/>
          </a:stretch>
        </p:blipFill>
        <p:spPr>
          <a:xfrm>
            <a:off x="373825" y="323500"/>
            <a:ext cx="1343350" cy="1343350"/>
          </a:xfrm>
          <a:prstGeom prst="rect">
            <a:avLst/>
          </a:prstGeom>
          <a:noFill/>
          <a:ln>
            <a:noFill/>
          </a:ln>
        </p:spPr>
      </p:pic>
      <p:sp>
        <p:nvSpPr>
          <p:cNvPr id="525" name="Google Shape;525;p57"/>
          <p:cNvSpPr txBox="1"/>
          <p:nvPr/>
        </p:nvSpPr>
        <p:spPr>
          <a:xfrm>
            <a:off x="2387550" y="475225"/>
            <a:ext cx="58482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600"/>
              </a:spcAft>
              <a:buNone/>
            </a:pPr>
            <a:r>
              <a:rPr b="1" lang="es" sz="2300">
                <a:solidFill>
                  <a:schemeClr val="dk1"/>
                </a:solidFill>
              </a:rPr>
              <a:t>Cloud Build (SLSA L3)</a:t>
            </a:r>
            <a:endParaRPr b="1" sz="2300">
              <a:solidFill>
                <a:schemeClr val="dk1"/>
              </a:solidFill>
            </a:endParaRPr>
          </a:p>
        </p:txBody>
      </p:sp>
      <p:sp>
        <p:nvSpPr>
          <p:cNvPr id="526" name="Google Shape;526;p57"/>
          <p:cNvSpPr txBox="1"/>
          <p:nvPr/>
        </p:nvSpPr>
        <p:spPr>
          <a:xfrm>
            <a:off x="414725" y="1666850"/>
            <a:ext cx="8153100" cy="345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 sz="1700">
                <a:solidFill>
                  <a:schemeClr val="dk1"/>
                </a:solidFill>
                <a:latin typeface="Calibri"/>
                <a:ea typeface="Calibri"/>
                <a:cs typeface="Calibri"/>
                <a:sym typeface="Calibri"/>
              </a:rPr>
              <a:t>Cloud Build ahora es oficialmente compatible con</a:t>
            </a:r>
            <a:r>
              <a:rPr b="1" lang="es" sz="1700">
                <a:solidFill>
                  <a:schemeClr val="dk1"/>
                </a:solidFill>
                <a:uFill>
                  <a:noFill/>
                </a:uFill>
                <a:latin typeface="Calibri"/>
                <a:ea typeface="Calibri"/>
                <a:cs typeface="Calibri"/>
                <a:sym typeface="Calibri"/>
                <a:hlinkClick r:id="rId4">
                  <a:extLst>
                    <a:ext uri="{A12FA001-AC4F-418D-AE19-62706E023703}">
                      <ahyp:hlinkClr val="tx"/>
                    </a:ext>
                  </a:extLst>
                </a:hlinkClick>
              </a:rPr>
              <a:t> </a:t>
            </a:r>
            <a:r>
              <a:rPr b="1" lang="es" sz="1700" u="sng">
                <a:solidFill>
                  <a:schemeClr val="dk1"/>
                </a:solidFill>
                <a:latin typeface="Calibri"/>
                <a:ea typeface="Calibri"/>
                <a:cs typeface="Calibri"/>
                <a:sym typeface="Calibri"/>
                <a:hlinkClick r:id="rId5">
                  <a:extLst>
                    <a:ext uri="{A12FA001-AC4F-418D-AE19-62706E023703}">
                      <ahyp:hlinkClr val="tx"/>
                    </a:ext>
                  </a:extLst>
                </a:hlinkClick>
              </a:rPr>
              <a:t>nivel 3 de SLSA</a:t>
            </a:r>
            <a:r>
              <a:rPr b="1" lang="es" sz="1700" u="sng">
                <a:solidFill>
                  <a:schemeClr val="dk1"/>
                </a:solidFill>
                <a:latin typeface="Calibri"/>
                <a:ea typeface="Calibri"/>
                <a:cs typeface="Calibri"/>
                <a:sym typeface="Calibri"/>
              </a:rPr>
              <a:t> </a:t>
            </a:r>
            <a:r>
              <a:rPr b="1" lang="es" sz="1700">
                <a:solidFill>
                  <a:schemeClr val="dk1"/>
                </a:solidFill>
                <a:latin typeface="Calibri"/>
                <a:ea typeface="Calibri"/>
                <a:cs typeface="Calibri"/>
                <a:sym typeface="Calibri"/>
              </a:rPr>
              <a:t>.</a:t>
            </a:r>
            <a:endParaRPr b="1" sz="17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rPr lang="es" sz="1700">
                <a:solidFill>
                  <a:schemeClr val="dk1"/>
                </a:solidFill>
                <a:latin typeface="Calibri"/>
                <a:ea typeface="Calibri"/>
                <a:cs typeface="Calibri"/>
                <a:sym typeface="Calibri"/>
              </a:rPr>
              <a:t>I</a:t>
            </a:r>
            <a:r>
              <a:rPr lang="es" sz="1700">
                <a:solidFill>
                  <a:schemeClr val="dk1"/>
                </a:solidFill>
                <a:latin typeface="Calibri"/>
                <a:ea typeface="Calibri"/>
                <a:cs typeface="Calibri"/>
                <a:sym typeface="Calibri"/>
              </a:rPr>
              <a:t>mplementa las prácticas recomendadas de nivel 3 de SLSA de forma predeterminada. </a:t>
            </a:r>
            <a:endParaRPr sz="17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t/>
            </a:r>
            <a:endParaRPr sz="17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t/>
            </a:r>
            <a:endParaRPr sz="17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t/>
            </a:r>
            <a:endParaRPr sz="1700">
              <a:solidFill>
                <a:schemeClr val="dk1"/>
              </a:solidFill>
              <a:latin typeface="Calibri"/>
              <a:ea typeface="Calibri"/>
              <a:cs typeface="Calibri"/>
              <a:sym typeface="Calibri"/>
            </a:endParaRPr>
          </a:p>
          <a:p>
            <a:pPr indent="0" lvl="0" marL="0" rtl="0" algn="l">
              <a:lnSpc>
                <a:spcPct val="115000"/>
              </a:lnSpc>
              <a:spcBef>
                <a:spcPts val="1400"/>
              </a:spcBef>
              <a:spcAft>
                <a:spcPts val="1400"/>
              </a:spcAft>
              <a:buNone/>
            </a:pPr>
            <a:r>
              <a:rPr lang="es" sz="1700">
                <a:solidFill>
                  <a:schemeClr val="dk1"/>
                </a:solidFill>
                <a:latin typeface="Calibri"/>
                <a:ea typeface="Calibri"/>
                <a:cs typeface="Calibri"/>
                <a:sym typeface="Calibri"/>
              </a:rPr>
              <a:t>Cloud Build ahora puede generar una procedencia de compilación autenticada y no falsificable para aplicaciones en contenedores y paquetes de Maven y Python no en contenedores, así como mostrar información de seguridad para aplicaciones construidas.</a:t>
            </a:r>
            <a:endParaRPr sz="1700">
              <a:solidFill>
                <a:schemeClr val="dk1"/>
              </a:solidFill>
              <a:latin typeface="Calibri"/>
              <a:ea typeface="Calibri"/>
              <a:cs typeface="Calibri"/>
              <a:sym typeface="Calibri"/>
            </a:endParaRPr>
          </a:p>
        </p:txBody>
      </p:sp>
      <p:pic>
        <p:nvPicPr>
          <p:cNvPr id="527" name="Google Shape;527;p57"/>
          <p:cNvPicPr preferRelativeResize="0"/>
          <p:nvPr/>
        </p:nvPicPr>
        <p:blipFill>
          <a:blip r:embed="rId6">
            <a:alphaModFix/>
          </a:blip>
          <a:stretch>
            <a:fillRect/>
          </a:stretch>
        </p:blipFill>
        <p:spPr>
          <a:xfrm>
            <a:off x="806375" y="2757226"/>
            <a:ext cx="969952" cy="995932"/>
          </a:xfrm>
          <a:prstGeom prst="rect">
            <a:avLst/>
          </a:prstGeom>
          <a:noFill/>
          <a:ln>
            <a:noFill/>
          </a:ln>
        </p:spPr>
      </p:pic>
      <p:sp>
        <p:nvSpPr>
          <p:cNvPr id="528" name="Google Shape;528;p57"/>
          <p:cNvSpPr txBox="1"/>
          <p:nvPr/>
        </p:nvSpPr>
        <p:spPr>
          <a:xfrm>
            <a:off x="2117284" y="2709401"/>
            <a:ext cx="55599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chemeClr val="dk1"/>
                </a:solidFill>
                <a:latin typeface="Calibri"/>
                <a:ea typeface="Calibri"/>
                <a:cs typeface="Calibri"/>
                <a:sym typeface="Calibri"/>
              </a:rPr>
              <a:t>Nivel 3</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s">
                <a:solidFill>
                  <a:schemeClr val="dk1"/>
                </a:solidFill>
                <a:latin typeface="Calibri"/>
                <a:ea typeface="Calibri"/>
                <a:cs typeface="Calibri"/>
                <a:sym typeface="Calibri"/>
              </a:rPr>
              <a:t>Controles de seguridad en host, procedencia no falsificable</a:t>
            </a:r>
            <a:endParaRPr>
              <a:solidFill>
                <a:schemeClr val="dk1"/>
              </a:solidFill>
              <a:latin typeface="Calibri"/>
              <a:ea typeface="Calibri"/>
              <a:cs typeface="Calibri"/>
              <a:sym typeface="Calibri"/>
            </a:endParaRPr>
          </a:p>
        </p:txBody>
      </p:sp>
      <p:pic>
        <p:nvPicPr>
          <p:cNvPr id="529" name="Google Shape;529;p57"/>
          <p:cNvPicPr preferRelativeResize="0"/>
          <p:nvPr/>
        </p:nvPicPr>
        <p:blipFill>
          <a:blip r:embed="rId7">
            <a:alphaModFix/>
          </a:blip>
          <a:stretch>
            <a:fillRect/>
          </a:stretch>
        </p:blipFill>
        <p:spPr>
          <a:xfrm>
            <a:off x="8420975" y="0"/>
            <a:ext cx="723026" cy="723026"/>
          </a:xfrm>
          <a:prstGeom prst="rect">
            <a:avLst/>
          </a:prstGeom>
          <a:noFill/>
          <a:ln>
            <a:noFill/>
          </a:ln>
        </p:spPr>
      </p:pic>
      <p:pic>
        <p:nvPicPr>
          <p:cNvPr id="530" name="Google Shape;530;p57"/>
          <p:cNvPicPr preferRelativeResize="0"/>
          <p:nvPr/>
        </p:nvPicPr>
        <p:blipFill>
          <a:blip r:embed="rId8">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p58"/>
          <p:cNvPicPr preferRelativeResize="0"/>
          <p:nvPr/>
        </p:nvPicPr>
        <p:blipFill>
          <a:blip r:embed="rId3">
            <a:alphaModFix/>
          </a:blip>
          <a:stretch>
            <a:fillRect/>
          </a:stretch>
        </p:blipFill>
        <p:spPr>
          <a:xfrm>
            <a:off x="152400" y="675338"/>
            <a:ext cx="8839201" cy="3792821"/>
          </a:xfrm>
          <a:prstGeom prst="rect">
            <a:avLst/>
          </a:prstGeom>
          <a:noFill/>
          <a:ln>
            <a:noFill/>
          </a:ln>
        </p:spPr>
      </p:pic>
      <p:pic>
        <p:nvPicPr>
          <p:cNvPr id="536" name="Google Shape;536;p58"/>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537" name="Google Shape;537;p58"/>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9"/>
          <p:cNvSpPr txBox="1"/>
          <p:nvPr/>
        </p:nvSpPr>
        <p:spPr>
          <a:xfrm>
            <a:off x="473425" y="1234025"/>
            <a:ext cx="36441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400">
                <a:solidFill>
                  <a:schemeClr val="dk1"/>
                </a:solidFill>
                <a:latin typeface="Calibri"/>
                <a:ea typeface="Calibri"/>
                <a:cs typeface="Calibri"/>
                <a:sym typeface="Calibri"/>
              </a:rPr>
              <a:t>Cuando envía una imagen a Container Registry, Security Center la escanea automáticamente y luego busca vulnerabilidades conocidas en paquetes o dependencias definidas en el archivo.</a:t>
            </a:r>
            <a:endParaRPr sz="1100"/>
          </a:p>
        </p:txBody>
      </p:sp>
      <p:sp>
        <p:nvSpPr>
          <p:cNvPr id="543" name="Google Shape;543;p59"/>
          <p:cNvSpPr txBox="1"/>
          <p:nvPr/>
        </p:nvSpPr>
        <p:spPr>
          <a:xfrm>
            <a:off x="4117550" y="3440525"/>
            <a:ext cx="45720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400">
                <a:solidFill>
                  <a:schemeClr val="dk1"/>
                </a:solidFill>
                <a:latin typeface="Calibri"/>
                <a:ea typeface="Calibri"/>
                <a:cs typeface="Calibri"/>
                <a:sym typeface="Calibri"/>
              </a:rPr>
              <a:t>Cuando finaliza el análisis (después de unos 10 minutos), Security Center proporciona detalles y una clasificación de seguridad para cada vulnerabilidad detectada, junto con orientación sobre cómo remediar problemas y proteger superficies de ataque vulnerables.</a:t>
            </a:r>
            <a:endParaRPr sz="1100"/>
          </a:p>
        </p:txBody>
      </p:sp>
      <p:pic>
        <p:nvPicPr>
          <p:cNvPr id="544" name="Google Shape;544;p59"/>
          <p:cNvPicPr preferRelativeResize="0"/>
          <p:nvPr/>
        </p:nvPicPr>
        <p:blipFill>
          <a:blip r:embed="rId3">
            <a:alphaModFix/>
          </a:blip>
          <a:stretch>
            <a:fillRect/>
          </a:stretch>
        </p:blipFill>
        <p:spPr>
          <a:xfrm>
            <a:off x="4633425" y="1154851"/>
            <a:ext cx="3540225" cy="1858625"/>
          </a:xfrm>
          <a:prstGeom prst="rect">
            <a:avLst/>
          </a:prstGeom>
          <a:noFill/>
          <a:ln>
            <a:noFill/>
          </a:ln>
        </p:spPr>
      </p:pic>
      <p:pic>
        <p:nvPicPr>
          <p:cNvPr id="545" name="Google Shape;545;p59"/>
          <p:cNvPicPr preferRelativeResize="0"/>
          <p:nvPr/>
        </p:nvPicPr>
        <p:blipFill>
          <a:blip r:embed="rId4">
            <a:alphaModFix/>
          </a:blip>
          <a:stretch>
            <a:fillRect/>
          </a:stretch>
        </p:blipFill>
        <p:spPr>
          <a:xfrm>
            <a:off x="1072900" y="3045487"/>
            <a:ext cx="2732526" cy="1936675"/>
          </a:xfrm>
          <a:prstGeom prst="rect">
            <a:avLst/>
          </a:prstGeom>
          <a:noFill/>
          <a:ln>
            <a:noFill/>
          </a:ln>
        </p:spPr>
      </p:pic>
      <p:sp>
        <p:nvSpPr>
          <p:cNvPr id="546" name="Google Shape;546;p59"/>
          <p:cNvSpPr txBox="1"/>
          <p:nvPr/>
        </p:nvSpPr>
        <p:spPr>
          <a:xfrm>
            <a:off x="1075050" y="529425"/>
            <a:ext cx="69939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300">
                <a:solidFill>
                  <a:schemeClr val="dk1"/>
                </a:solidFill>
              </a:rPr>
              <a:t>Microsoft Defender for Containers</a:t>
            </a:r>
            <a:endParaRPr sz="3300">
              <a:solidFill>
                <a:schemeClr val="dk1"/>
              </a:solidFill>
            </a:endParaRPr>
          </a:p>
          <a:p>
            <a:pPr indent="0" lvl="0" marL="0" rtl="0" algn="l">
              <a:spcBef>
                <a:spcPts val="0"/>
              </a:spcBef>
              <a:spcAft>
                <a:spcPts val="0"/>
              </a:spcAft>
              <a:buNone/>
            </a:pPr>
            <a:r>
              <a:t/>
            </a:r>
            <a:endParaRPr/>
          </a:p>
        </p:txBody>
      </p:sp>
      <p:sp>
        <p:nvSpPr>
          <p:cNvPr id="547" name="Google Shape;547;p59"/>
          <p:cNvSpPr txBox="1"/>
          <p:nvPr/>
        </p:nvSpPr>
        <p:spPr>
          <a:xfrm>
            <a:off x="4726641" y="4935751"/>
            <a:ext cx="457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https://learn.microsoft.com/en-us/azure/governance/policy/concepts/policy-for-kubernetes</a:t>
            </a:r>
            <a:endParaRPr sz="1100"/>
          </a:p>
        </p:txBody>
      </p:sp>
      <p:pic>
        <p:nvPicPr>
          <p:cNvPr id="548" name="Google Shape;548;p59"/>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549" name="Google Shape;549;p59"/>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0"/>
          <p:cNvSpPr txBox="1"/>
          <p:nvPr/>
        </p:nvSpPr>
        <p:spPr>
          <a:xfrm>
            <a:off x="463950" y="723025"/>
            <a:ext cx="83616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000">
                <a:solidFill>
                  <a:schemeClr val="dk1"/>
                </a:solidFill>
                <a:latin typeface="Calibri"/>
                <a:ea typeface="Calibri"/>
                <a:cs typeface="Calibri"/>
                <a:sym typeface="Calibri"/>
              </a:rPr>
              <a:t>El análisis de vulnerabilidades para imágenes almacenadas en Azure Container Registry ya está disponible de forma general en Azure Security Center. </a:t>
            </a:r>
            <a:endParaRPr sz="2000">
              <a:solidFill>
                <a:schemeClr val="dk1"/>
              </a:solidFill>
              <a:latin typeface="Calibri"/>
              <a:ea typeface="Calibri"/>
              <a:cs typeface="Calibri"/>
              <a:sym typeface="Calibri"/>
            </a:endParaRPr>
          </a:p>
        </p:txBody>
      </p:sp>
      <p:sp>
        <p:nvSpPr>
          <p:cNvPr id="555" name="Google Shape;555;p60"/>
          <p:cNvSpPr txBox="1"/>
          <p:nvPr/>
        </p:nvSpPr>
        <p:spPr>
          <a:xfrm>
            <a:off x="3334871" y="4947292"/>
            <a:ext cx="6064623" cy="19620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800">
                <a:solidFill>
                  <a:schemeClr val="dk1"/>
                </a:solidFill>
                <a:latin typeface="Calibri"/>
                <a:ea typeface="Calibri"/>
                <a:cs typeface="Calibri"/>
                <a:sym typeface="Calibri"/>
              </a:rPr>
              <a:t>https://azure.microsoft.com/en-us/updates/vulnerability-scanning-for-images-in-azure-container-registry-is-now-generally-available/</a:t>
            </a:r>
            <a:endParaRPr sz="1100"/>
          </a:p>
        </p:txBody>
      </p:sp>
      <p:pic>
        <p:nvPicPr>
          <p:cNvPr id="556" name="Google Shape;556;p60"/>
          <p:cNvPicPr preferRelativeResize="0"/>
          <p:nvPr/>
        </p:nvPicPr>
        <p:blipFill>
          <a:blip r:embed="rId3">
            <a:alphaModFix/>
          </a:blip>
          <a:stretch>
            <a:fillRect/>
          </a:stretch>
        </p:blipFill>
        <p:spPr>
          <a:xfrm>
            <a:off x="888624" y="1416114"/>
            <a:ext cx="7512249" cy="2722600"/>
          </a:xfrm>
          <a:prstGeom prst="rect">
            <a:avLst/>
          </a:prstGeom>
          <a:noFill/>
          <a:ln>
            <a:noFill/>
          </a:ln>
        </p:spPr>
      </p:pic>
      <p:sp>
        <p:nvSpPr>
          <p:cNvPr id="557" name="Google Shape;557;p60"/>
          <p:cNvSpPr txBox="1"/>
          <p:nvPr/>
        </p:nvSpPr>
        <p:spPr>
          <a:xfrm>
            <a:off x="260400" y="4146900"/>
            <a:ext cx="8768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Calibri"/>
                <a:ea typeface="Calibri"/>
                <a:cs typeface="Calibri"/>
                <a:sym typeface="Calibri"/>
              </a:rPr>
              <a:t>Esta capacidad está impulsada por Qualys, un proveedor líder de seguridad de la información.</a:t>
            </a:r>
            <a:endParaRPr sz="2000">
              <a:solidFill>
                <a:schemeClr val="dk1"/>
              </a:solidFill>
              <a:latin typeface="Calibri"/>
              <a:ea typeface="Calibri"/>
              <a:cs typeface="Calibri"/>
              <a:sym typeface="Calibri"/>
            </a:endParaRPr>
          </a:p>
        </p:txBody>
      </p:sp>
      <p:pic>
        <p:nvPicPr>
          <p:cNvPr id="558" name="Google Shape;558;p60"/>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559" name="Google Shape;559;p60"/>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1"/>
          <p:cNvSpPr txBox="1"/>
          <p:nvPr/>
        </p:nvSpPr>
        <p:spPr>
          <a:xfrm>
            <a:off x="2817158" y="452204"/>
            <a:ext cx="45720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000">
                <a:solidFill>
                  <a:schemeClr val="dk1"/>
                </a:solidFill>
                <a:latin typeface="Calibri"/>
                <a:ea typeface="Calibri"/>
                <a:cs typeface="Calibri"/>
                <a:sym typeface="Calibri"/>
              </a:rPr>
              <a:t>Escaneando </a:t>
            </a:r>
            <a:r>
              <a:rPr lang="es" sz="2000">
                <a:solidFill>
                  <a:schemeClr val="dk1"/>
                </a:solidFill>
                <a:latin typeface="Calibri"/>
                <a:ea typeface="Calibri"/>
                <a:cs typeface="Calibri"/>
                <a:sym typeface="Calibri"/>
              </a:rPr>
              <a:t>imágenes</a:t>
            </a:r>
            <a:r>
              <a:rPr lang="es" sz="2000">
                <a:solidFill>
                  <a:schemeClr val="dk1"/>
                </a:solidFill>
                <a:latin typeface="Calibri"/>
                <a:ea typeface="Calibri"/>
                <a:cs typeface="Calibri"/>
                <a:sym typeface="Calibri"/>
              </a:rPr>
              <a:t> en ACR</a:t>
            </a:r>
            <a:endParaRPr sz="1100"/>
          </a:p>
        </p:txBody>
      </p:sp>
      <p:sp>
        <p:nvSpPr>
          <p:cNvPr id="565" name="Google Shape;565;p61"/>
          <p:cNvSpPr txBox="1"/>
          <p:nvPr/>
        </p:nvSpPr>
        <p:spPr>
          <a:xfrm>
            <a:off x="4047566" y="4935751"/>
            <a:ext cx="5163670"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https://learn.microsoft.com/en-us/azure/defender-for-cloud/defender-for-container-registries-introduction</a:t>
            </a:r>
            <a:endParaRPr sz="1100"/>
          </a:p>
        </p:txBody>
      </p:sp>
      <p:sp>
        <p:nvSpPr>
          <p:cNvPr id="566" name="Google Shape;566;p61"/>
          <p:cNvSpPr txBox="1"/>
          <p:nvPr/>
        </p:nvSpPr>
        <p:spPr>
          <a:xfrm>
            <a:off x="631950" y="996425"/>
            <a:ext cx="7880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rPr>
              <a:t>Defender for Containers ofrece escaneo de vulnerabilidades para imágenes en Azure Container Registries (ACR). Los disparadores para escanear una imagen incluyen:</a:t>
            </a:r>
            <a:endParaRPr>
              <a:solidFill>
                <a:schemeClr val="dk1"/>
              </a:solidFill>
            </a:endParaRPr>
          </a:p>
        </p:txBody>
      </p:sp>
      <p:sp>
        <p:nvSpPr>
          <p:cNvPr id="567" name="Google Shape;567;p61"/>
          <p:cNvSpPr txBox="1"/>
          <p:nvPr/>
        </p:nvSpPr>
        <p:spPr>
          <a:xfrm>
            <a:off x="3091275" y="1993125"/>
            <a:ext cx="56775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1"/>
                </a:solidFill>
              </a:rPr>
              <a:t>Al enviar: cuando una imagen se envía a un registro para su almacenamiento, Defender for Containers escanea automáticamente la imagen.</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s" sz="1700">
                <a:solidFill>
                  <a:schemeClr val="dk1"/>
                </a:solidFill>
              </a:rPr>
              <a:t>Extraído recientemente: escaneos semanales de imágenes que se tomaron en los últimos 30 días.</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s" sz="1700">
                <a:solidFill>
                  <a:schemeClr val="dk1"/>
                </a:solidFill>
              </a:rPr>
              <a:t>Al importar: cuando importa imágenes a un ACR, Defender for Containers analiza todas las imágenes compatibles.</a:t>
            </a:r>
            <a:endParaRPr sz="1700">
              <a:solidFill>
                <a:schemeClr val="dk1"/>
              </a:solidFill>
            </a:endParaRPr>
          </a:p>
        </p:txBody>
      </p:sp>
      <p:pic>
        <p:nvPicPr>
          <p:cNvPr id="568" name="Google Shape;568;p61"/>
          <p:cNvPicPr preferRelativeResize="0"/>
          <p:nvPr/>
        </p:nvPicPr>
        <p:blipFill>
          <a:blip r:embed="rId3">
            <a:alphaModFix/>
          </a:blip>
          <a:stretch>
            <a:fillRect/>
          </a:stretch>
        </p:blipFill>
        <p:spPr>
          <a:xfrm>
            <a:off x="940625" y="1993125"/>
            <a:ext cx="1583700" cy="798974"/>
          </a:xfrm>
          <a:prstGeom prst="rect">
            <a:avLst/>
          </a:prstGeom>
          <a:noFill/>
          <a:ln>
            <a:noFill/>
          </a:ln>
        </p:spPr>
      </p:pic>
      <p:pic>
        <p:nvPicPr>
          <p:cNvPr id="569" name="Google Shape;569;p61"/>
          <p:cNvPicPr preferRelativeResize="0"/>
          <p:nvPr/>
        </p:nvPicPr>
        <p:blipFill>
          <a:blip r:embed="rId4">
            <a:alphaModFix/>
          </a:blip>
          <a:stretch>
            <a:fillRect/>
          </a:stretch>
        </p:blipFill>
        <p:spPr>
          <a:xfrm>
            <a:off x="1389913" y="2994349"/>
            <a:ext cx="798976" cy="798976"/>
          </a:xfrm>
          <a:prstGeom prst="rect">
            <a:avLst/>
          </a:prstGeom>
          <a:noFill/>
          <a:ln>
            <a:noFill/>
          </a:ln>
        </p:spPr>
      </p:pic>
      <p:pic>
        <p:nvPicPr>
          <p:cNvPr id="570" name="Google Shape;570;p61"/>
          <p:cNvPicPr preferRelativeResize="0"/>
          <p:nvPr/>
        </p:nvPicPr>
        <p:blipFill>
          <a:blip r:embed="rId5">
            <a:alphaModFix/>
          </a:blip>
          <a:stretch>
            <a:fillRect/>
          </a:stretch>
        </p:blipFill>
        <p:spPr>
          <a:xfrm>
            <a:off x="940625" y="3995575"/>
            <a:ext cx="1583700" cy="798974"/>
          </a:xfrm>
          <a:prstGeom prst="rect">
            <a:avLst/>
          </a:prstGeom>
          <a:noFill/>
          <a:ln>
            <a:noFill/>
          </a:ln>
        </p:spPr>
      </p:pic>
      <p:pic>
        <p:nvPicPr>
          <p:cNvPr id="571" name="Google Shape;571;p61"/>
          <p:cNvPicPr preferRelativeResize="0"/>
          <p:nvPr/>
        </p:nvPicPr>
        <p:blipFill>
          <a:blip r:embed="rId6">
            <a:alphaModFix/>
          </a:blip>
          <a:stretch>
            <a:fillRect/>
          </a:stretch>
        </p:blipFill>
        <p:spPr>
          <a:xfrm>
            <a:off x="8420975" y="0"/>
            <a:ext cx="723026" cy="723026"/>
          </a:xfrm>
          <a:prstGeom prst="rect">
            <a:avLst/>
          </a:prstGeom>
          <a:noFill/>
          <a:ln>
            <a:noFill/>
          </a:ln>
        </p:spPr>
      </p:pic>
      <p:pic>
        <p:nvPicPr>
          <p:cNvPr id="572" name="Google Shape;572;p61"/>
          <p:cNvPicPr preferRelativeResize="0"/>
          <p:nvPr/>
        </p:nvPicPr>
        <p:blipFill>
          <a:blip r:embed="rId7">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62"/>
          <p:cNvSpPr txBox="1"/>
          <p:nvPr/>
        </p:nvSpPr>
        <p:spPr>
          <a:xfrm>
            <a:off x="214600" y="239850"/>
            <a:ext cx="4437600" cy="233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100">
                <a:solidFill>
                  <a:schemeClr val="dk1"/>
                </a:solidFill>
                <a:latin typeface="Calibri"/>
                <a:ea typeface="Calibri"/>
                <a:cs typeface="Calibri"/>
                <a:sym typeface="Calibri"/>
              </a:rPr>
              <a:t>Azure Policy extiende Gatekeeper v3, un webhook de controlador de admisión de Open Policy Agent (OPA), a fin de aplicar medidas de seguridad y cumplimiento a escala en los clústeres de una manera centralizada y coherente. </a:t>
            </a:r>
            <a:endParaRPr sz="2100">
              <a:solidFill>
                <a:schemeClr val="dk1"/>
              </a:solidFill>
              <a:latin typeface="Calibri"/>
              <a:ea typeface="Calibri"/>
              <a:cs typeface="Calibri"/>
              <a:sym typeface="Calibri"/>
            </a:endParaRPr>
          </a:p>
        </p:txBody>
      </p:sp>
      <p:sp>
        <p:nvSpPr>
          <p:cNvPr id="578" name="Google Shape;578;p62"/>
          <p:cNvSpPr txBox="1"/>
          <p:nvPr/>
        </p:nvSpPr>
        <p:spPr>
          <a:xfrm>
            <a:off x="4726641" y="4935751"/>
            <a:ext cx="4572000"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https://learn.microsoft.com/en-us/azure/governance/policy/concepts/policy-for-kubernetes</a:t>
            </a:r>
            <a:endParaRPr sz="1100"/>
          </a:p>
        </p:txBody>
      </p:sp>
      <p:sp>
        <p:nvSpPr>
          <p:cNvPr id="579" name="Google Shape;579;p62"/>
          <p:cNvSpPr txBox="1"/>
          <p:nvPr/>
        </p:nvSpPr>
        <p:spPr>
          <a:xfrm>
            <a:off x="4010525" y="3258125"/>
            <a:ext cx="49071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latin typeface="Calibri"/>
                <a:ea typeface="Calibri"/>
                <a:cs typeface="Calibri"/>
                <a:sym typeface="Calibri"/>
              </a:rPr>
              <a:t>Azure Policy permite administrar e informar sobre el estado de cumplimiento de los clústeres de Kubernetes desde un único lugar. </a:t>
            </a:r>
            <a:endParaRPr sz="2100">
              <a:solidFill>
                <a:schemeClr val="dk1"/>
              </a:solidFill>
              <a:latin typeface="Calibri"/>
              <a:ea typeface="Calibri"/>
              <a:cs typeface="Calibri"/>
              <a:sym typeface="Calibri"/>
            </a:endParaRPr>
          </a:p>
        </p:txBody>
      </p:sp>
      <p:pic>
        <p:nvPicPr>
          <p:cNvPr id="580" name="Google Shape;580;p62"/>
          <p:cNvPicPr preferRelativeResize="0"/>
          <p:nvPr/>
        </p:nvPicPr>
        <p:blipFill rotWithShape="1">
          <a:blip r:embed="rId3">
            <a:alphaModFix/>
          </a:blip>
          <a:srcRect b="28140" l="16712" r="14083" t="46742"/>
          <a:stretch/>
        </p:blipFill>
        <p:spPr>
          <a:xfrm>
            <a:off x="4792275" y="842225"/>
            <a:ext cx="4125350" cy="842200"/>
          </a:xfrm>
          <a:prstGeom prst="rect">
            <a:avLst/>
          </a:prstGeom>
          <a:noFill/>
          <a:ln>
            <a:noFill/>
          </a:ln>
        </p:spPr>
      </p:pic>
      <p:pic>
        <p:nvPicPr>
          <p:cNvPr id="581" name="Google Shape;581;p62"/>
          <p:cNvPicPr preferRelativeResize="0"/>
          <p:nvPr/>
        </p:nvPicPr>
        <p:blipFill>
          <a:blip r:embed="rId4">
            <a:alphaModFix/>
          </a:blip>
          <a:stretch>
            <a:fillRect/>
          </a:stretch>
        </p:blipFill>
        <p:spPr>
          <a:xfrm>
            <a:off x="1365600" y="3200788"/>
            <a:ext cx="1592175" cy="1592175"/>
          </a:xfrm>
          <a:prstGeom prst="rect">
            <a:avLst/>
          </a:prstGeom>
          <a:noFill/>
          <a:ln>
            <a:noFill/>
          </a:ln>
        </p:spPr>
      </p:pic>
      <p:pic>
        <p:nvPicPr>
          <p:cNvPr id="582" name="Google Shape;582;p62"/>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583" name="Google Shape;583;p62"/>
          <p:cNvPicPr preferRelativeResize="0"/>
          <p:nvPr/>
        </p:nvPicPr>
        <p:blipFill>
          <a:blip r:embed="rId6">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3"/>
          <p:cNvSpPr txBox="1"/>
          <p:nvPr/>
        </p:nvSpPr>
        <p:spPr>
          <a:xfrm>
            <a:off x="2316075" y="1669906"/>
            <a:ext cx="52890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s" sz="1400">
                <a:solidFill>
                  <a:schemeClr val="dk1"/>
                </a:solidFill>
                <a:latin typeface="Calibri"/>
                <a:ea typeface="Calibri"/>
                <a:cs typeface="Calibri"/>
                <a:sym typeface="Calibri"/>
              </a:rPr>
              <a:t>Comprueba con el servicio Azure Policy las asignaciones de directivas al clúster.</a:t>
            </a:r>
            <a:endParaRPr sz="1100"/>
          </a:p>
        </p:txBody>
      </p:sp>
      <p:sp>
        <p:nvSpPr>
          <p:cNvPr id="589" name="Google Shape;589;p63"/>
          <p:cNvSpPr txBox="1"/>
          <p:nvPr/>
        </p:nvSpPr>
        <p:spPr>
          <a:xfrm>
            <a:off x="1894875" y="823875"/>
            <a:ext cx="5634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1"/>
                </a:solidFill>
                <a:latin typeface="Calibri"/>
                <a:ea typeface="Calibri"/>
                <a:cs typeface="Calibri"/>
                <a:sym typeface="Calibri"/>
              </a:rPr>
              <a:t>El complemento realiza las funciones siguientes:</a:t>
            </a:r>
            <a:endParaRPr sz="1700"/>
          </a:p>
        </p:txBody>
      </p:sp>
      <p:sp>
        <p:nvSpPr>
          <p:cNvPr id="590" name="Google Shape;590;p63"/>
          <p:cNvSpPr txBox="1"/>
          <p:nvPr/>
        </p:nvSpPr>
        <p:spPr>
          <a:xfrm>
            <a:off x="2316075" y="2681681"/>
            <a:ext cx="5213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p>
          <a:p>
            <a:pPr indent="0" lvl="0" marL="0" rtl="0" algn="l">
              <a:spcBef>
                <a:spcPts val="0"/>
              </a:spcBef>
              <a:spcAft>
                <a:spcPts val="0"/>
              </a:spcAft>
              <a:buNone/>
            </a:pPr>
            <a:r>
              <a:rPr lang="es">
                <a:solidFill>
                  <a:schemeClr val="dk1"/>
                </a:solidFill>
                <a:latin typeface="Calibri"/>
                <a:ea typeface="Calibri"/>
                <a:cs typeface="Calibri"/>
                <a:sym typeface="Calibri"/>
              </a:rPr>
              <a:t>Implementa definiciones de directiva en el clúster como recursos de plantilla de restricción y restricción.</a:t>
            </a:r>
            <a:endParaRPr sz="1100"/>
          </a:p>
        </p:txBody>
      </p:sp>
      <p:sp>
        <p:nvSpPr>
          <p:cNvPr id="591" name="Google Shape;591;p63"/>
          <p:cNvSpPr txBox="1"/>
          <p:nvPr/>
        </p:nvSpPr>
        <p:spPr>
          <a:xfrm>
            <a:off x="2316075" y="3853793"/>
            <a:ext cx="56349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p>
          <a:p>
            <a:pPr indent="0" lvl="0" marL="0" rtl="0" algn="l">
              <a:spcBef>
                <a:spcPts val="0"/>
              </a:spcBef>
              <a:spcAft>
                <a:spcPts val="0"/>
              </a:spcAft>
              <a:buNone/>
            </a:pPr>
            <a:r>
              <a:rPr lang="es">
                <a:solidFill>
                  <a:schemeClr val="dk1"/>
                </a:solidFill>
                <a:latin typeface="Calibri"/>
                <a:ea typeface="Calibri"/>
                <a:cs typeface="Calibri"/>
                <a:sym typeface="Calibri"/>
              </a:rPr>
              <a:t>Realiza informes de auditoría y cumplimiento y los devuelve al servicio Azure Policy.</a:t>
            </a:r>
            <a:endParaRPr sz="1100"/>
          </a:p>
        </p:txBody>
      </p:sp>
      <p:pic>
        <p:nvPicPr>
          <p:cNvPr id="592" name="Google Shape;592;p63"/>
          <p:cNvPicPr preferRelativeResize="0"/>
          <p:nvPr/>
        </p:nvPicPr>
        <p:blipFill>
          <a:blip r:embed="rId3">
            <a:alphaModFix/>
          </a:blip>
          <a:stretch>
            <a:fillRect/>
          </a:stretch>
        </p:blipFill>
        <p:spPr>
          <a:xfrm>
            <a:off x="1607075" y="1673569"/>
            <a:ext cx="708474" cy="708474"/>
          </a:xfrm>
          <a:prstGeom prst="rect">
            <a:avLst/>
          </a:prstGeom>
          <a:noFill/>
          <a:ln>
            <a:noFill/>
          </a:ln>
        </p:spPr>
      </p:pic>
      <p:pic>
        <p:nvPicPr>
          <p:cNvPr id="593" name="Google Shape;593;p63"/>
          <p:cNvPicPr preferRelativeResize="0"/>
          <p:nvPr/>
        </p:nvPicPr>
        <p:blipFill>
          <a:blip r:embed="rId3">
            <a:alphaModFix/>
          </a:blip>
          <a:stretch>
            <a:fillRect/>
          </a:stretch>
        </p:blipFill>
        <p:spPr>
          <a:xfrm>
            <a:off x="1607075" y="2719994"/>
            <a:ext cx="708474" cy="708474"/>
          </a:xfrm>
          <a:prstGeom prst="rect">
            <a:avLst/>
          </a:prstGeom>
          <a:noFill/>
          <a:ln>
            <a:noFill/>
          </a:ln>
        </p:spPr>
      </p:pic>
      <p:pic>
        <p:nvPicPr>
          <p:cNvPr id="594" name="Google Shape;594;p63"/>
          <p:cNvPicPr preferRelativeResize="0"/>
          <p:nvPr/>
        </p:nvPicPr>
        <p:blipFill>
          <a:blip r:embed="rId3">
            <a:alphaModFix/>
          </a:blip>
          <a:stretch>
            <a:fillRect/>
          </a:stretch>
        </p:blipFill>
        <p:spPr>
          <a:xfrm>
            <a:off x="1607075" y="3892106"/>
            <a:ext cx="708474" cy="708474"/>
          </a:xfrm>
          <a:prstGeom prst="rect">
            <a:avLst/>
          </a:prstGeom>
          <a:noFill/>
          <a:ln>
            <a:noFill/>
          </a:ln>
        </p:spPr>
      </p:pic>
      <p:sp>
        <p:nvSpPr>
          <p:cNvPr id="595" name="Google Shape;595;p63"/>
          <p:cNvSpPr txBox="1"/>
          <p:nvPr/>
        </p:nvSpPr>
        <p:spPr>
          <a:xfrm>
            <a:off x="4726641" y="4935751"/>
            <a:ext cx="457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https://learn.microsoft.com/en-us/azure/governance/policy/concepts/policy-for-kubernetes</a:t>
            </a:r>
            <a:endParaRPr sz="1100"/>
          </a:p>
        </p:txBody>
      </p:sp>
      <p:pic>
        <p:nvPicPr>
          <p:cNvPr id="596" name="Google Shape;596;p63"/>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597" name="Google Shape;597;p63"/>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4"/>
          <p:cNvSpPr txBox="1"/>
          <p:nvPr/>
        </p:nvSpPr>
        <p:spPr>
          <a:xfrm>
            <a:off x="3521847" y="210850"/>
            <a:ext cx="19860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200">
                <a:solidFill>
                  <a:schemeClr val="dk1"/>
                </a:solidFill>
                <a:latin typeface="Calibri"/>
                <a:ea typeface="Calibri"/>
                <a:cs typeface="Calibri"/>
                <a:sym typeface="Calibri"/>
              </a:rPr>
              <a:t>Image scanning</a:t>
            </a:r>
            <a:endParaRPr sz="1900"/>
          </a:p>
        </p:txBody>
      </p:sp>
      <p:sp>
        <p:nvSpPr>
          <p:cNvPr id="603" name="Google Shape;603;p64"/>
          <p:cNvSpPr txBox="1"/>
          <p:nvPr/>
        </p:nvSpPr>
        <p:spPr>
          <a:xfrm>
            <a:off x="1001806" y="771257"/>
            <a:ext cx="7026088"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400">
                <a:solidFill>
                  <a:schemeClr val="dk1"/>
                </a:solidFill>
                <a:latin typeface="Calibri"/>
                <a:ea typeface="Calibri"/>
                <a:cs typeface="Calibri"/>
                <a:sym typeface="Calibri"/>
              </a:rPr>
              <a:t>El escaneo de imágenes de Amazon ECR ayuda a identificar vulnerabilidades de software en las imágenes de su contenedor. Se ofrecen los siguientes tipos de escaneo.</a:t>
            </a:r>
            <a:endParaRPr sz="1400">
              <a:solidFill>
                <a:schemeClr val="dk1"/>
              </a:solidFill>
              <a:latin typeface="Calibri"/>
              <a:ea typeface="Calibri"/>
              <a:cs typeface="Calibri"/>
              <a:sym typeface="Calibri"/>
            </a:endParaRPr>
          </a:p>
        </p:txBody>
      </p:sp>
      <p:sp>
        <p:nvSpPr>
          <p:cNvPr id="604" name="Google Shape;604;p64"/>
          <p:cNvSpPr txBox="1"/>
          <p:nvPr/>
        </p:nvSpPr>
        <p:spPr>
          <a:xfrm>
            <a:off x="5197288" y="4917516"/>
            <a:ext cx="3946712"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https://docs.aws.amazon.com/AmazonECR/latest/userguide/image-scanning.html</a:t>
            </a:r>
            <a:endParaRPr sz="1100"/>
          </a:p>
        </p:txBody>
      </p:sp>
      <p:pic>
        <p:nvPicPr>
          <p:cNvPr id="605" name="Google Shape;605;p64"/>
          <p:cNvPicPr preferRelativeResize="0"/>
          <p:nvPr/>
        </p:nvPicPr>
        <p:blipFill>
          <a:blip r:embed="rId3">
            <a:alphaModFix/>
          </a:blip>
          <a:stretch>
            <a:fillRect/>
          </a:stretch>
        </p:blipFill>
        <p:spPr>
          <a:xfrm>
            <a:off x="1597075" y="1408406"/>
            <a:ext cx="5949858" cy="3356712"/>
          </a:xfrm>
          <a:prstGeom prst="rect">
            <a:avLst/>
          </a:prstGeom>
          <a:noFill/>
          <a:ln>
            <a:noFill/>
          </a:ln>
        </p:spPr>
      </p:pic>
      <p:pic>
        <p:nvPicPr>
          <p:cNvPr id="606" name="Google Shape;606;p64"/>
          <p:cNvPicPr preferRelativeResize="0"/>
          <p:nvPr/>
        </p:nvPicPr>
        <p:blipFill>
          <a:blip r:embed="rId4">
            <a:alphaModFix/>
          </a:blip>
          <a:stretch>
            <a:fillRect/>
          </a:stretch>
        </p:blipFill>
        <p:spPr>
          <a:xfrm>
            <a:off x="8420975" y="0"/>
            <a:ext cx="723026" cy="723026"/>
          </a:xfrm>
          <a:prstGeom prst="rect">
            <a:avLst/>
          </a:prstGeom>
          <a:noFill/>
          <a:ln>
            <a:noFill/>
          </a:ln>
        </p:spPr>
      </p:pic>
      <p:pic>
        <p:nvPicPr>
          <p:cNvPr id="607" name="Google Shape;607;p64"/>
          <p:cNvPicPr preferRelativeResize="0"/>
          <p:nvPr/>
        </p:nvPicPr>
        <p:blipFill>
          <a:blip r:embed="rId5">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5"/>
          <p:cNvSpPr txBox="1"/>
          <p:nvPr/>
        </p:nvSpPr>
        <p:spPr>
          <a:xfrm>
            <a:off x="216050" y="431150"/>
            <a:ext cx="5198100" cy="946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900" u="sng">
                <a:solidFill>
                  <a:schemeClr val="dk1"/>
                </a:solidFill>
                <a:latin typeface="Calibri"/>
                <a:ea typeface="Calibri"/>
                <a:cs typeface="Calibri"/>
                <a:sym typeface="Calibri"/>
              </a:rPr>
              <a:t>Escaneo mejorado</a:t>
            </a:r>
            <a:r>
              <a:rPr lang="es" sz="1900">
                <a:solidFill>
                  <a:schemeClr val="dk1"/>
                </a:solidFill>
                <a:latin typeface="Calibri"/>
                <a:ea typeface="Calibri"/>
                <a:cs typeface="Calibri"/>
                <a:sym typeface="Calibri"/>
              </a:rPr>
              <a:t>: Amazon ECR se integra con Amazon Inspector para proporcionar un escaneo continuo y automatizado de sus repositorios. </a:t>
            </a:r>
            <a:endParaRPr sz="1900">
              <a:solidFill>
                <a:schemeClr val="dk1"/>
              </a:solidFill>
              <a:latin typeface="Calibri"/>
              <a:ea typeface="Calibri"/>
              <a:cs typeface="Calibri"/>
              <a:sym typeface="Calibri"/>
            </a:endParaRPr>
          </a:p>
        </p:txBody>
      </p:sp>
      <p:sp>
        <p:nvSpPr>
          <p:cNvPr id="613" name="Google Shape;613;p65"/>
          <p:cNvSpPr txBox="1"/>
          <p:nvPr/>
        </p:nvSpPr>
        <p:spPr>
          <a:xfrm>
            <a:off x="3268575" y="2040750"/>
            <a:ext cx="57750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solidFill>
                  <a:schemeClr val="dk1"/>
                </a:solidFill>
                <a:latin typeface="Calibri"/>
                <a:ea typeface="Calibri"/>
                <a:cs typeface="Calibri"/>
                <a:sym typeface="Calibri"/>
              </a:rPr>
              <a:t>Las imágenes de su contenedor se analizan en busca de vulnerabilidades de sistemas operativos y paquetes de lenguaje de programación.</a:t>
            </a:r>
            <a:endParaRPr sz="1900">
              <a:solidFill>
                <a:schemeClr val="dk1"/>
              </a:solidFill>
              <a:latin typeface="Calibri"/>
              <a:ea typeface="Calibri"/>
              <a:cs typeface="Calibri"/>
              <a:sym typeface="Calibri"/>
            </a:endParaRPr>
          </a:p>
        </p:txBody>
      </p:sp>
      <p:sp>
        <p:nvSpPr>
          <p:cNvPr id="614" name="Google Shape;614;p65"/>
          <p:cNvSpPr txBox="1"/>
          <p:nvPr/>
        </p:nvSpPr>
        <p:spPr>
          <a:xfrm>
            <a:off x="155900" y="3820975"/>
            <a:ext cx="56694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solidFill>
                  <a:schemeClr val="dk1"/>
                </a:solidFill>
                <a:latin typeface="Calibri"/>
                <a:ea typeface="Calibri"/>
                <a:cs typeface="Calibri"/>
                <a:sym typeface="Calibri"/>
              </a:rPr>
              <a:t>A medida que aparecen nuevas vulnerabilidades, los resultados del análisis se actualizan y Amazon Inspector emite un evento a EventBridge para notificarle.</a:t>
            </a:r>
            <a:endParaRPr sz="1900">
              <a:solidFill>
                <a:schemeClr val="dk1"/>
              </a:solidFill>
              <a:latin typeface="Calibri"/>
              <a:ea typeface="Calibri"/>
              <a:cs typeface="Calibri"/>
              <a:sym typeface="Calibri"/>
            </a:endParaRPr>
          </a:p>
        </p:txBody>
      </p:sp>
      <p:pic>
        <p:nvPicPr>
          <p:cNvPr id="615" name="Google Shape;615;p65"/>
          <p:cNvPicPr preferRelativeResize="0"/>
          <p:nvPr/>
        </p:nvPicPr>
        <p:blipFill rotWithShape="1">
          <a:blip r:embed="rId3">
            <a:alphaModFix/>
          </a:blip>
          <a:srcRect b="0" l="6979" r="7586" t="9132"/>
          <a:stretch/>
        </p:blipFill>
        <p:spPr>
          <a:xfrm>
            <a:off x="5107150" y="164525"/>
            <a:ext cx="1279950" cy="1479750"/>
          </a:xfrm>
          <a:prstGeom prst="rect">
            <a:avLst/>
          </a:prstGeom>
          <a:noFill/>
          <a:ln>
            <a:noFill/>
          </a:ln>
        </p:spPr>
      </p:pic>
      <p:pic>
        <p:nvPicPr>
          <p:cNvPr id="616" name="Google Shape;616;p65"/>
          <p:cNvPicPr preferRelativeResize="0"/>
          <p:nvPr/>
        </p:nvPicPr>
        <p:blipFill>
          <a:blip r:embed="rId4">
            <a:alphaModFix/>
          </a:blip>
          <a:stretch>
            <a:fillRect/>
          </a:stretch>
        </p:blipFill>
        <p:spPr>
          <a:xfrm>
            <a:off x="398500" y="1524000"/>
            <a:ext cx="2338652" cy="1759699"/>
          </a:xfrm>
          <a:prstGeom prst="rect">
            <a:avLst/>
          </a:prstGeom>
          <a:noFill/>
          <a:ln>
            <a:noFill/>
          </a:ln>
        </p:spPr>
      </p:pic>
      <p:pic>
        <p:nvPicPr>
          <p:cNvPr id="617" name="Google Shape;617;p65"/>
          <p:cNvPicPr preferRelativeResize="0"/>
          <p:nvPr/>
        </p:nvPicPr>
        <p:blipFill>
          <a:blip r:embed="rId5">
            <a:alphaModFix/>
          </a:blip>
          <a:stretch>
            <a:fillRect/>
          </a:stretch>
        </p:blipFill>
        <p:spPr>
          <a:xfrm>
            <a:off x="8420975" y="0"/>
            <a:ext cx="723026" cy="723026"/>
          </a:xfrm>
          <a:prstGeom prst="rect">
            <a:avLst/>
          </a:prstGeom>
          <a:noFill/>
          <a:ln>
            <a:noFill/>
          </a:ln>
        </p:spPr>
      </p:pic>
      <p:pic>
        <p:nvPicPr>
          <p:cNvPr id="618" name="Google Shape;618;p65"/>
          <p:cNvPicPr preferRelativeResize="0"/>
          <p:nvPr/>
        </p:nvPicPr>
        <p:blipFill>
          <a:blip r:embed="rId6">
            <a:alphaModFix/>
          </a:blip>
          <a:stretch>
            <a:fillRect/>
          </a:stretch>
        </p:blipFill>
        <p:spPr>
          <a:xfrm>
            <a:off x="6440900" y="117400"/>
            <a:ext cx="1986100" cy="488225"/>
          </a:xfrm>
          <a:prstGeom prst="rect">
            <a:avLst/>
          </a:prstGeom>
          <a:noFill/>
          <a:ln>
            <a:noFill/>
          </a:ln>
        </p:spPr>
      </p:pic>
      <p:pic>
        <p:nvPicPr>
          <p:cNvPr id="619" name="Google Shape;619;p65"/>
          <p:cNvPicPr preferRelativeResize="0"/>
          <p:nvPr/>
        </p:nvPicPr>
        <p:blipFill>
          <a:blip r:embed="rId7">
            <a:alphaModFix/>
          </a:blip>
          <a:stretch>
            <a:fillRect/>
          </a:stretch>
        </p:blipFill>
        <p:spPr>
          <a:xfrm>
            <a:off x="6569600" y="3820975"/>
            <a:ext cx="1061999" cy="106200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6"/>
          <p:cNvSpPr txBox="1"/>
          <p:nvPr/>
        </p:nvSpPr>
        <p:spPr>
          <a:xfrm>
            <a:off x="238877" y="192450"/>
            <a:ext cx="4382400" cy="3301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100" u="sng">
                <a:solidFill>
                  <a:schemeClr val="dk1"/>
                </a:solidFill>
                <a:latin typeface="Calibri"/>
                <a:ea typeface="Calibri"/>
                <a:cs typeface="Calibri"/>
                <a:sym typeface="Calibri"/>
              </a:rPr>
              <a:t>Análisis básico</a:t>
            </a:r>
            <a:r>
              <a:rPr lang="es" sz="2100">
                <a:solidFill>
                  <a:schemeClr val="dk1"/>
                </a:solidFill>
                <a:latin typeface="Calibri"/>
                <a:ea typeface="Calibri"/>
                <a:cs typeface="Calibri"/>
                <a:sym typeface="Calibri"/>
              </a:rPr>
              <a:t>: Amazon ECR utiliza la base de datos de vulnerabilidades y exposiciones comunes (CVE) del proyecto Clair* de código abierto. </a:t>
            </a:r>
            <a:endParaRPr sz="2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a:p>
            <a:pPr indent="0" lvl="0" marL="0" marR="0" rtl="0" algn="l">
              <a:spcBef>
                <a:spcPts val="0"/>
              </a:spcBef>
              <a:spcAft>
                <a:spcPts val="0"/>
              </a:spcAft>
              <a:buNone/>
            </a:pPr>
            <a:r>
              <a:rPr lang="es" sz="2100">
                <a:solidFill>
                  <a:schemeClr val="dk1"/>
                </a:solidFill>
                <a:latin typeface="Calibri"/>
                <a:ea typeface="Calibri"/>
                <a:cs typeface="Calibri"/>
                <a:sym typeface="Calibri"/>
              </a:rPr>
              <a:t>Con el escaneo básico, configura sus repositorios para escanear en el momento o puede realizar escaneos manuales y Amazon ECR proporciona una lista de los resultados del escaneo.</a:t>
            </a:r>
            <a:endParaRPr sz="2100">
              <a:solidFill>
                <a:schemeClr val="dk1"/>
              </a:solidFill>
              <a:latin typeface="Calibri"/>
              <a:ea typeface="Calibri"/>
              <a:cs typeface="Calibri"/>
              <a:sym typeface="Calibri"/>
            </a:endParaRPr>
          </a:p>
        </p:txBody>
      </p:sp>
      <p:pic>
        <p:nvPicPr>
          <p:cNvPr id="625" name="Google Shape;625;p66"/>
          <p:cNvPicPr preferRelativeResize="0"/>
          <p:nvPr/>
        </p:nvPicPr>
        <p:blipFill>
          <a:blip r:embed="rId3">
            <a:alphaModFix/>
          </a:blip>
          <a:stretch>
            <a:fillRect/>
          </a:stretch>
        </p:blipFill>
        <p:spPr>
          <a:xfrm>
            <a:off x="8420975" y="0"/>
            <a:ext cx="723026" cy="723026"/>
          </a:xfrm>
          <a:prstGeom prst="rect">
            <a:avLst/>
          </a:prstGeom>
          <a:noFill/>
          <a:ln>
            <a:noFill/>
          </a:ln>
        </p:spPr>
      </p:pic>
      <p:pic>
        <p:nvPicPr>
          <p:cNvPr id="626" name="Google Shape;626;p66"/>
          <p:cNvPicPr preferRelativeResize="0"/>
          <p:nvPr/>
        </p:nvPicPr>
        <p:blipFill>
          <a:blip r:embed="rId4">
            <a:alphaModFix/>
          </a:blip>
          <a:stretch>
            <a:fillRect/>
          </a:stretch>
        </p:blipFill>
        <p:spPr>
          <a:xfrm>
            <a:off x="6440900" y="117400"/>
            <a:ext cx="1986100" cy="488225"/>
          </a:xfrm>
          <a:prstGeom prst="rect">
            <a:avLst/>
          </a:prstGeom>
          <a:noFill/>
          <a:ln>
            <a:noFill/>
          </a:ln>
        </p:spPr>
      </p:pic>
      <p:pic>
        <p:nvPicPr>
          <p:cNvPr id="627" name="Google Shape;627;p66"/>
          <p:cNvPicPr preferRelativeResize="0"/>
          <p:nvPr/>
        </p:nvPicPr>
        <p:blipFill>
          <a:blip r:embed="rId5">
            <a:alphaModFix/>
          </a:blip>
          <a:stretch>
            <a:fillRect/>
          </a:stretch>
        </p:blipFill>
        <p:spPr>
          <a:xfrm>
            <a:off x="5194625" y="958575"/>
            <a:ext cx="3226350" cy="3226350"/>
          </a:xfrm>
          <a:prstGeom prst="rect">
            <a:avLst/>
          </a:prstGeom>
          <a:noFill/>
          <a:ln>
            <a:noFill/>
          </a:ln>
        </p:spPr>
      </p:pic>
      <p:sp>
        <p:nvSpPr>
          <p:cNvPr id="628" name="Google Shape;628;p66"/>
          <p:cNvSpPr txBox="1"/>
          <p:nvPr/>
        </p:nvSpPr>
        <p:spPr>
          <a:xfrm>
            <a:off x="238875" y="4126675"/>
            <a:ext cx="4382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Calibri"/>
                <a:ea typeface="Calibri"/>
                <a:cs typeface="Calibri"/>
                <a:sym typeface="Calibri"/>
              </a:rPr>
              <a:t>* Clair es un proyecto open source que ofrece una herramienta para supervisar la seguridad de los contenedores por medio del análisis de los puntos vulnerables en los contenedores</a:t>
            </a:r>
            <a:endParaRPr sz="100"/>
          </a:p>
        </p:txBody>
      </p:sp>
      <p:sp>
        <p:nvSpPr>
          <p:cNvPr id="629" name="Google Shape;629;p66"/>
          <p:cNvSpPr txBox="1"/>
          <p:nvPr/>
        </p:nvSpPr>
        <p:spPr>
          <a:xfrm>
            <a:off x="6259975" y="4867275"/>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chemeClr val="dk1"/>
                </a:solidFill>
                <a:latin typeface="Calibri"/>
                <a:ea typeface="Calibri"/>
                <a:cs typeface="Calibri"/>
                <a:sym typeface="Calibri"/>
              </a:rPr>
              <a:t>https://www.redhat.com/es/topics/containers/what-is-clair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7"/>
          <p:cNvSpPr txBox="1"/>
          <p:nvPr/>
        </p:nvSpPr>
        <p:spPr>
          <a:xfrm>
            <a:off x="684450" y="634150"/>
            <a:ext cx="7775100" cy="157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s">
                <a:solidFill>
                  <a:schemeClr val="dk1"/>
                </a:solidFill>
              </a:rPr>
              <a:t>Saber dónde se han implementado imágenes con vulnerabilidades es esencial para mantener su entorno seguro. </a:t>
            </a:r>
            <a:endParaRPr>
              <a:solidFill>
                <a:schemeClr val="dk1"/>
              </a:solidFill>
            </a:endParaRPr>
          </a:p>
          <a:p>
            <a:pPr indent="0" lvl="0" marL="0" rtl="0" algn="l">
              <a:lnSpc>
                <a:spcPct val="115000"/>
              </a:lnSpc>
              <a:spcBef>
                <a:spcPts val="1400"/>
              </a:spcBef>
              <a:spcAft>
                <a:spcPts val="1400"/>
              </a:spcAft>
              <a:buNone/>
            </a:pPr>
            <a:r>
              <a:rPr lang="es">
                <a:solidFill>
                  <a:schemeClr val="dk1"/>
                </a:solidFill>
              </a:rPr>
              <a:t>Si bien posiblemente podría crear una solución de seguimiento de imágenes usted mismo, ya existen varias ofertas comerciales que brindan esta y otras capacidades avanzadas listas para usar, que incluyen:</a:t>
            </a:r>
            <a:endParaRPr u="sng">
              <a:solidFill>
                <a:schemeClr val="dk1"/>
              </a:solidFill>
            </a:endParaRPr>
          </a:p>
        </p:txBody>
      </p:sp>
      <p:sp>
        <p:nvSpPr>
          <p:cNvPr id="635" name="Google Shape;635;p67"/>
          <p:cNvSpPr txBox="1"/>
          <p:nvPr/>
        </p:nvSpPr>
        <p:spPr>
          <a:xfrm>
            <a:off x="684450" y="2643225"/>
            <a:ext cx="5485800" cy="1847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400"/>
              </a:spcBef>
              <a:spcAft>
                <a:spcPts val="0"/>
              </a:spcAft>
              <a:buClr>
                <a:schemeClr val="dk1"/>
              </a:buClr>
              <a:buSzPts val="1600"/>
              <a:buChar char="●"/>
            </a:pPr>
            <a:r>
              <a:rPr lang="es" sz="1600" u="sng">
                <a:solidFill>
                  <a:schemeClr val="dk1"/>
                </a:solidFill>
                <a:hlinkClick r:id="rId3">
                  <a:extLst>
                    <a:ext uri="{A12FA001-AC4F-418D-AE19-62706E023703}">
                      <ahyp:hlinkClr val="tx"/>
                    </a:ext>
                  </a:extLst>
                </a:hlinkClick>
              </a:rPr>
              <a:t>ancla</a:t>
            </a:r>
            <a:endParaRPr sz="1600" u="sng">
              <a:solidFill>
                <a:schemeClr val="dk1"/>
              </a:solidFill>
            </a:endParaRPr>
          </a:p>
          <a:p>
            <a:pPr indent="-330200" lvl="0" marL="457200" rtl="0" algn="l">
              <a:lnSpc>
                <a:spcPct val="115000"/>
              </a:lnSpc>
              <a:spcBef>
                <a:spcPts val="0"/>
              </a:spcBef>
              <a:spcAft>
                <a:spcPts val="0"/>
              </a:spcAft>
              <a:buClr>
                <a:schemeClr val="dk1"/>
              </a:buClr>
              <a:buSzPts val="1600"/>
              <a:buChar char="●"/>
            </a:pPr>
            <a:r>
              <a:rPr lang="es" sz="1600" u="sng">
                <a:solidFill>
                  <a:schemeClr val="dk1"/>
                </a:solidFill>
                <a:hlinkClick r:id="rId4">
                  <a:extLst>
                    <a:ext uri="{A12FA001-AC4F-418D-AE19-62706E023703}">
                      <ahyp:hlinkClr val="tx"/>
                    </a:ext>
                  </a:extLst>
                </a:hlinkClick>
              </a:rPr>
              <a:t>Palo Alto - Nube Prisma (twistcli)</a:t>
            </a:r>
            <a:endParaRPr sz="1600" u="sng">
              <a:solidFill>
                <a:schemeClr val="dk1"/>
              </a:solidFill>
            </a:endParaRPr>
          </a:p>
          <a:p>
            <a:pPr indent="-330200" lvl="0" marL="457200" rtl="0" algn="l">
              <a:lnSpc>
                <a:spcPct val="115000"/>
              </a:lnSpc>
              <a:spcBef>
                <a:spcPts val="0"/>
              </a:spcBef>
              <a:spcAft>
                <a:spcPts val="0"/>
              </a:spcAft>
              <a:buClr>
                <a:schemeClr val="dk1"/>
              </a:buClr>
              <a:buSzPts val="1600"/>
              <a:buChar char="●"/>
            </a:pPr>
            <a:r>
              <a:rPr lang="es" sz="1600" u="sng">
                <a:solidFill>
                  <a:schemeClr val="dk1"/>
                </a:solidFill>
                <a:hlinkClick r:id="rId5">
                  <a:extLst>
                    <a:ext uri="{A12FA001-AC4F-418D-AE19-62706E023703}">
                      <ahyp:hlinkClr val="tx"/>
                    </a:ext>
                  </a:extLst>
                </a:hlinkClick>
              </a:rPr>
              <a:t>Agua</a:t>
            </a:r>
            <a:endParaRPr sz="1600" u="sng">
              <a:solidFill>
                <a:schemeClr val="dk1"/>
              </a:solidFill>
            </a:endParaRPr>
          </a:p>
          <a:p>
            <a:pPr indent="-330200" lvl="0" marL="457200" rtl="0" algn="l">
              <a:lnSpc>
                <a:spcPct val="115000"/>
              </a:lnSpc>
              <a:spcBef>
                <a:spcPts val="0"/>
              </a:spcBef>
              <a:spcAft>
                <a:spcPts val="0"/>
              </a:spcAft>
              <a:buClr>
                <a:schemeClr val="dk1"/>
              </a:buClr>
              <a:buSzPts val="1600"/>
              <a:buChar char="●"/>
            </a:pPr>
            <a:r>
              <a:rPr lang="es" sz="1600" u="sng">
                <a:solidFill>
                  <a:schemeClr val="dk1"/>
                </a:solidFill>
                <a:hlinkClick r:id="rId6">
                  <a:extLst>
                    <a:ext uri="{A12FA001-AC4F-418D-AE19-62706E023703}">
                      <ahyp:hlinkClr val="tx"/>
                    </a:ext>
                  </a:extLst>
                </a:hlinkClick>
              </a:rPr>
              <a:t>Kubei</a:t>
            </a:r>
            <a:endParaRPr sz="1600" u="sng">
              <a:solidFill>
                <a:schemeClr val="dk1"/>
              </a:solidFill>
            </a:endParaRPr>
          </a:p>
          <a:p>
            <a:pPr indent="-330200" lvl="0" marL="457200" rtl="0" algn="l">
              <a:lnSpc>
                <a:spcPct val="115000"/>
              </a:lnSpc>
              <a:spcBef>
                <a:spcPts val="0"/>
              </a:spcBef>
              <a:spcAft>
                <a:spcPts val="0"/>
              </a:spcAft>
              <a:buClr>
                <a:schemeClr val="dk1"/>
              </a:buClr>
              <a:buSzPts val="1600"/>
              <a:buChar char="●"/>
            </a:pPr>
            <a:r>
              <a:rPr lang="es" sz="1600" u="sng">
                <a:solidFill>
                  <a:schemeClr val="dk1"/>
                </a:solidFill>
                <a:hlinkClick r:id="rId7">
                  <a:extLst>
                    <a:ext uri="{A12FA001-AC4F-418D-AE19-62706E023703}">
                      <ahyp:hlinkClr val="tx"/>
                    </a:ext>
                  </a:extLst>
                </a:hlinkClick>
              </a:rPr>
              <a:t>trives</a:t>
            </a:r>
            <a:endParaRPr sz="1600" u="sng">
              <a:solidFill>
                <a:schemeClr val="dk1"/>
              </a:solidFill>
            </a:endParaRPr>
          </a:p>
          <a:p>
            <a:pPr indent="-330200" lvl="0" marL="457200" rtl="0" algn="l">
              <a:lnSpc>
                <a:spcPct val="115000"/>
              </a:lnSpc>
              <a:spcBef>
                <a:spcPts val="0"/>
              </a:spcBef>
              <a:spcAft>
                <a:spcPts val="0"/>
              </a:spcAft>
              <a:buClr>
                <a:schemeClr val="dk1"/>
              </a:buClr>
              <a:buSzPts val="1600"/>
              <a:buChar char="●"/>
            </a:pPr>
            <a:r>
              <a:rPr lang="es" sz="1600" u="sng">
                <a:solidFill>
                  <a:schemeClr val="dk1"/>
                </a:solidFill>
                <a:hlinkClick r:id="rId8">
                  <a:extLst>
                    <a:ext uri="{A12FA001-AC4F-418D-AE19-62706E023703}">
                      <ahyp:hlinkClr val="tx"/>
                    </a:ext>
                  </a:extLst>
                </a:hlinkClick>
              </a:rPr>
              <a:t>Snyk</a:t>
            </a:r>
            <a:endParaRPr sz="1900"/>
          </a:p>
        </p:txBody>
      </p:sp>
      <p:pic>
        <p:nvPicPr>
          <p:cNvPr id="636" name="Google Shape;636;p67"/>
          <p:cNvPicPr preferRelativeResize="0"/>
          <p:nvPr/>
        </p:nvPicPr>
        <p:blipFill>
          <a:blip r:embed="rId9">
            <a:alphaModFix/>
          </a:blip>
          <a:stretch>
            <a:fillRect/>
          </a:stretch>
        </p:blipFill>
        <p:spPr>
          <a:xfrm>
            <a:off x="5215450" y="2250050"/>
            <a:ext cx="2633451" cy="2633451"/>
          </a:xfrm>
          <a:prstGeom prst="rect">
            <a:avLst/>
          </a:prstGeom>
          <a:noFill/>
          <a:ln>
            <a:noFill/>
          </a:ln>
        </p:spPr>
      </p:pic>
      <p:sp>
        <p:nvSpPr>
          <p:cNvPr id="637" name="Google Shape;637;p67"/>
          <p:cNvSpPr txBox="1"/>
          <p:nvPr/>
        </p:nvSpPr>
        <p:spPr>
          <a:xfrm>
            <a:off x="5819300" y="4847275"/>
            <a:ext cx="3434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chemeClr val="dk1"/>
                </a:solidFill>
                <a:latin typeface="Calibri"/>
                <a:ea typeface="Calibri"/>
                <a:cs typeface="Calibri"/>
                <a:sym typeface="Calibri"/>
              </a:rPr>
              <a:t>https://aws.github.io/aws-eks-best-practices/security/docs/image/</a:t>
            </a:r>
            <a:endParaRPr/>
          </a:p>
        </p:txBody>
      </p:sp>
      <p:pic>
        <p:nvPicPr>
          <p:cNvPr id="638" name="Google Shape;638;p67"/>
          <p:cNvPicPr preferRelativeResize="0"/>
          <p:nvPr/>
        </p:nvPicPr>
        <p:blipFill>
          <a:blip r:embed="rId10">
            <a:alphaModFix/>
          </a:blip>
          <a:stretch>
            <a:fillRect/>
          </a:stretch>
        </p:blipFill>
        <p:spPr>
          <a:xfrm>
            <a:off x="8420975" y="0"/>
            <a:ext cx="723026" cy="723026"/>
          </a:xfrm>
          <a:prstGeom prst="rect">
            <a:avLst/>
          </a:prstGeom>
          <a:noFill/>
          <a:ln>
            <a:noFill/>
          </a:ln>
        </p:spPr>
      </p:pic>
      <p:pic>
        <p:nvPicPr>
          <p:cNvPr id="639" name="Google Shape;639;p67"/>
          <p:cNvPicPr preferRelativeResize="0"/>
          <p:nvPr/>
        </p:nvPicPr>
        <p:blipFill>
          <a:blip r:embed="rId11">
            <a:alphaModFix/>
          </a:blip>
          <a:stretch>
            <a:fillRect/>
          </a:stretch>
        </p:blipFill>
        <p:spPr>
          <a:xfrm>
            <a:off x="6440900" y="117400"/>
            <a:ext cx="1986100" cy="4882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8"/>
          <p:cNvSpPr txBox="1"/>
          <p:nvPr/>
        </p:nvSpPr>
        <p:spPr>
          <a:xfrm>
            <a:off x="288025" y="723025"/>
            <a:ext cx="19860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1"/>
                </a:solidFill>
              </a:rPr>
              <a:t>También se podría usar un webhook de validación de Kubernetes para validar que las imágenes no tengan vulnerabilidades críticas.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
                <a:solidFill>
                  <a:schemeClr val="dk1"/>
                </a:solidFill>
              </a:rPr>
              <a:t>Por lo general, se usan para rechazar solicitudes que no cumplen con los criterios de validación definidos en el webhook.</a:t>
            </a:r>
            <a:endParaRPr>
              <a:solidFill>
                <a:schemeClr val="dk1"/>
              </a:solidFill>
            </a:endParaRPr>
          </a:p>
          <a:p>
            <a:pPr indent="0" lvl="0" marL="0" rtl="0" algn="l">
              <a:spcBef>
                <a:spcPts val="0"/>
              </a:spcBef>
              <a:spcAft>
                <a:spcPts val="0"/>
              </a:spcAft>
              <a:buNone/>
            </a:pPr>
            <a:r>
              <a:t/>
            </a:r>
            <a:endParaRPr>
              <a:solidFill>
                <a:schemeClr val="dk1"/>
              </a:solidFill>
            </a:endParaRPr>
          </a:p>
        </p:txBody>
      </p:sp>
      <p:pic>
        <p:nvPicPr>
          <p:cNvPr id="645" name="Google Shape;645;p68"/>
          <p:cNvPicPr preferRelativeResize="0"/>
          <p:nvPr/>
        </p:nvPicPr>
        <p:blipFill>
          <a:blip r:embed="rId3">
            <a:alphaModFix/>
          </a:blip>
          <a:stretch>
            <a:fillRect/>
          </a:stretch>
        </p:blipFill>
        <p:spPr>
          <a:xfrm>
            <a:off x="8420975" y="0"/>
            <a:ext cx="723026" cy="723026"/>
          </a:xfrm>
          <a:prstGeom prst="rect">
            <a:avLst/>
          </a:prstGeom>
          <a:noFill/>
          <a:ln>
            <a:noFill/>
          </a:ln>
        </p:spPr>
      </p:pic>
      <p:pic>
        <p:nvPicPr>
          <p:cNvPr id="646" name="Google Shape;646;p68"/>
          <p:cNvPicPr preferRelativeResize="0"/>
          <p:nvPr/>
        </p:nvPicPr>
        <p:blipFill>
          <a:blip r:embed="rId4">
            <a:alphaModFix/>
          </a:blip>
          <a:stretch>
            <a:fillRect/>
          </a:stretch>
        </p:blipFill>
        <p:spPr>
          <a:xfrm>
            <a:off x="6440900" y="117400"/>
            <a:ext cx="1986100" cy="488225"/>
          </a:xfrm>
          <a:prstGeom prst="rect">
            <a:avLst/>
          </a:prstGeom>
          <a:noFill/>
          <a:ln>
            <a:noFill/>
          </a:ln>
        </p:spPr>
      </p:pic>
      <p:pic>
        <p:nvPicPr>
          <p:cNvPr id="647" name="Google Shape;647;p68"/>
          <p:cNvPicPr preferRelativeResize="0"/>
          <p:nvPr/>
        </p:nvPicPr>
        <p:blipFill>
          <a:blip r:embed="rId5">
            <a:alphaModFix/>
          </a:blip>
          <a:stretch>
            <a:fillRect/>
          </a:stretch>
        </p:blipFill>
        <p:spPr>
          <a:xfrm>
            <a:off x="2179405" y="723025"/>
            <a:ext cx="6909486" cy="4227801"/>
          </a:xfrm>
          <a:prstGeom prst="rect">
            <a:avLst/>
          </a:prstGeom>
          <a:noFill/>
          <a:ln>
            <a:noFill/>
          </a:ln>
        </p:spPr>
      </p:pic>
      <p:sp>
        <p:nvSpPr>
          <p:cNvPr id="648" name="Google Shape;648;p68"/>
          <p:cNvSpPr txBox="1"/>
          <p:nvPr/>
        </p:nvSpPr>
        <p:spPr>
          <a:xfrm>
            <a:off x="3647700" y="4896600"/>
            <a:ext cx="564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chemeClr val="dk1"/>
                </a:solidFill>
                <a:latin typeface="Calibri"/>
                <a:ea typeface="Calibri"/>
                <a:cs typeface="Calibri"/>
                <a:sym typeface="Calibri"/>
              </a:rPr>
              <a:t>https://aws.amazon.com/blogs/containers/building-serverless-admission-webhooks-for-kubernetes-with-aws-sam/</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